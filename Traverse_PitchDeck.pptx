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TRV Supply</c:v>
                </c:pt>
              </c:strCache>
            </c:strRef>
          </c:tx>
          <c:spPr>
            <a:solidFill>
              <a:schemeClr val="accent1"/>
            </a:solidFill>
            <a:ln w="9525" cap="flat">
              <a:solidFill>
                <a:srgbClr val="F9F9F9"/>
              </a:solidFill>
              <a:prstDash val="solid"/>
              <a:round/>
            </a:ln>
            <a:effectLst/>
          </c:spPr>
          <c:dPt>
            <c:idx val="0"/>
            <c:bubble3D val="0"/>
            <c:spPr>
              <a:solidFill>
                <a:srgbClr val="00D4FF"/>
              </a:solidFill>
              <a:effectLst/>
            </c:spPr>
          </c:dPt>
          <c:dPt>
            <c:idx val="1"/>
            <c:bubble3D val="0"/>
            <c:spPr>
              <a:solidFill>
                <a:srgbClr val="7B2FBE"/>
              </a:solidFill>
              <a:effectLst/>
            </c:spPr>
          </c:dPt>
          <c:dPt>
            <c:idx val="2"/>
            <c:bubble3D val="0"/>
            <c:spPr>
              <a:solidFill>
                <a:srgbClr val="1E2761"/>
              </a:solidFill>
              <a:effectLst/>
            </c:spPr>
          </c:dPt>
          <c:dPt>
            <c:idx val="3"/>
            <c:bubble3D val="0"/>
            <c:spPr>
              <a:solidFill>
                <a:srgbClr val="4488FF"/>
              </a:solidFill>
              <a:effectLst/>
            </c:spPr>
          </c:dPt>
          <c:dPt>
            <c:idx val="4"/>
            <c:bubble3D val="0"/>
            <c:spPr>
              <a:solidFill>
                <a:srgbClr val="FF6B6B"/>
              </a:solidFill>
              <a:effectLst/>
            </c:spPr>
          </c:dPt>
          <c:dPt>
            <c:idx val="5"/>
            <c:bubble3D val="0"/>
            <c:spPr>
              <a:solidFill>
                <a:srgbClr val="44BB88"/>
              </a:solidFill>
              <a:effectLst/>
            </c:spPr>
          </c:dPt>
          <c:dPt>
            <c:idx val="6"/>
            <c:bubble3D val="0"/>
            <c:spPr>
              <a:solidFill>
                <a:srgbClr val="FFAA00"/>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Bonding curve ~79.3%</c:v>
                </c:pt>
                <c:pt idx="1">
                  <c:v>Liquidity reserve ~20.7%</c:v>
                </c:pt>
              </c:strCache>
            </c:strRef>
          </c:cat>
          <c:val>
            <c:numRef>
              <c:f>Sheet1!$B$2:$B$3</c:f>
              <c:numCache>
                <c:formatCode>General</c:formatCode>
                <c:ptCount val="2"/>
                <c:pt idx="0">
                  <c:v>79.3</c:v>
                </c:pt>
                <c:pt idx="1">
                  <c:v>20.7</c:v>
                </c:pt>
              </c:numCache>
            </c:numRef>
          </c:val>
        </c:ser>
        <c:firstSliceAng val="0"/>
      </c:pieChart>
      <c:spPr>
        <a:noFill/>
        <a:ln>
          <a:noFill/>
        </a:ln>
        <a:effectLst/>
      </c:spPr>
    </c:plotArea>
    <c:legend>
      <c:legendPos val="b"/>
      <c:overlay val="0"/>
      <c:txPr>
        <a:bodyPr/>
        <a:lstStyle/>
        <a:p>
          <a:pPr>
            <a:defRPr sz="1000">
              <a:solidFill>
                <a:srgbClr val="1A1A2E"/>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fees (USD)</c:v>
                </c:pt>
              </c:strCache>
            </c:strRef>
          </c:tx>
          <c:spPr>
            <a:solidFill>
              <a:srgbClr val="1E2761"/>
            </a:solidFill>
            <a:effectLst/>
          </c:spPr>
          <c:invertIfNegative val="0"/>
          <c:dLbls>
            <c:numFmt formatCode="#,##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00D4FF"/>
              </a:solidFill>
              <a:effectLst/>
            </c:spPr>
          </c:dPt>
          <c:dPt>
            <c:idx val="2"/>
            <c:invertIfNegative val="0"/>
            <c:bubble3D val="0"/>
            <c:spPr>
              <a:solidFill>
                <a:srgbClr val="7B2FBE"/>
              </a:solidFill>
              <a:effectLst/>
            </c:spPr>
          </c:dPt>
          <c:cat>
            <c:strRef>
              <c:f>Sheet1!$A$2:$A$4</c:f>
              <c:strCache>
                <c:ptCount val="3"/>
                <c:pt idx="0">
                  <c:v>Conservative</c:v>
                </c:pt>
                <c:pt idx="1">
                  <c:v>Base</c:v>
                </c:pt>
                <c:pt idx="2">
                  <c:v>Optimistic</c:v>
                </c:pt>
              </c:strCache>
            </c:strRef>
          </c:cat>
          <c:val>
            <c:numRef>
              <c:f>Sheet1!$B$2:$B$4</c:f>
              <c:numCache>
                <c:formatCode>General</c:formatCode>
                <c:ptCount val="3"/>
                <c:pt idx="0">
                  <c:v>25000</c:v>
                </c:pt>
                <c:pt idx="1">
                  <c:v>250000</c:v>
                </c:pt>
                <c:pt idx="2">
                  <c:v>1000000</c:v>
                </c:pt>
              </c:numCache>
            </c:numRef>
          </c:val>
        </c:ser>
        <c:dLbls>
          <c:numFmt formatCode="#,##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D4FF"/>
          </a:solidFill>
          <a:ln w="12700">
            <a:solidFill>
              <a:srgbClr val="00D4FF"/>
            </a:solidFill>
            <a:prstDash val="solid"/>
          </a:ln>
        </p:spPr>
        <p:txBody>
          <a:bodyPr/>
          <a:p/>
        </p:txBody>
      </p:sp>
      <p:sp>
        <p:nvSpPr>
          <p:cNvPr id="3" name="Shape 1"/>
          <p:cNvSpPr/>
          <p:nvPr/>
        </p:nvSpPr>
        <p:spPr>
          <a:xfrm>
            <a:off x="6858000" y="-914400"/>
            <a:ext cx="3200400" cy="3200400"/>
          </a:xfrm>
          <a:prstGeom prst="ellipse">
            <a:avLst/>
          </a:prstGeom>
          <a:solidFill>
            <a:srgbClr val="7B2FBE">
              <a:alpha val="30000"/>
            </a:srgbClr>
          </a:solidFill>
          <a:ln w="12700">
            <a:solidFill>
              <a:srgbClr val="7B2FBE"/>
            </a:solidFill>
            <a:prstDash val="solid"/>
          </a:ln>
        </p:spPr>
        <p:txBody>
          <a:bodyPr/>
          <a:p/>
        </p:txBody>
      </p:sp>
      <p:sp>
        <p:nvSpPr>
          <p:cNvPr id="4" name="Shape 2"/>
          <p:cNvSpPr/>
          <p:nvPr/>
        </p:nvSpPr>
        <p:spPr>
          <a:xfrm>
            <a:off x="7498080" y="457200"/>
            <a:ext cx="2560320" cy="2560320"/>
          </a:xfrm>
          <a:prstGeom prst="ellipse">
            <a:avLst/>
          </a:prstGeom>
          <a:solidFill>
            <a:srgbClr val="00D4FF">
              <a:alpha val="30000"/>
            </a:srgbClr>
          </a:solidFill>
          <a:ln w="12700">
            <a:solidFill>
              <a:srgbClr val="00D4FF"/>
            </a:solidFill>
            <a:prstDash val="solid"/>
          </a:ln>
        </p:spPr>
        <p:txBody>
          <a:bodyPr/>
          <a:p/>
        </p:txBody>
      </p:sp>
      <p:sp>
        <p:nvSpPr>
          <p:cNvPr id="5" name="Text 3"/>
          <p:cNvSpPr/>
          <p:nvPr/>
        </p:nvSpPr>
        <p:spPr>
          <a:xfrm>
            <a:off x="411480" y="1005840"/>
            <a:ext cx="6400800" cy="1280160"/>
          </a:xfrm>
          <a:prstGeom prst="rect">
            <a:avLst/>
          </a:prstGeom>
          <a:noFill/>
          <a:ln/>
        </p:spPr>
        <p:txBody>
          <a:bodyPr wrap="square" lIns="0" tIns="0" rIns="0" bIns="0" rtlCol="0" anchor="ctr"/>
          <a:lstStyle/>
          <a:p>
            <a:pPr algn="l" indent="0" marL="0">
              <a:buNone/>
            </a:pPr>
            <a:r>
              <a:rPr lang="en-US" sz="6400" b="1" dirty="0">
                <a:solidFill>
                  <a:srgbClr val="FFFFFF"/>
                </a:solidFill>
                <a:latin typeface="Georgia" pitchFamily="34" charset="0"/>
                <a:ea typeface="Georgia" pitchFamily="34" charset="-122"/>
                <a:cs typeface="Georgia" pitchFamily="34" charset="-120"/>
              </a:rPr>
              <a:t>TRAVERSE</a:t>
            </a:r>
            <a:endParaRPr lang="en-US" sz="6400" dirty="0"/>
          </a:p>
        </p:txBody>
      </p:sp>
      <p:sp>
        <p:nvSpPr>
          <p:cNvPr id="6" name="Text 4"/>
          <p:cNvSpPr/>
          <p:nvPr/>
        </p:nvSpPr>
        <p:spPr>
          <a:xfrm>
            <a:off x="411480" y="2423160"/>
            <a:ext cx="6858000" cy="502920"/>
          </a:xfrm>
          <a:prstGeom prst="rect">
            <a:avLst/>
          </a:prstGeom>
          <a:noFill/>
          <a:ln/>
        </p:spPr>
        <p:txBody>
          <a:bodyPr wrap="square" lIns="0" tIns="0" rIns="0" bIns="0" rtlCol="0" anchor="ctr"/>
          <a:lstStyle/>
          <a:p>
            <a:pPr algn="l" indent="0" marL="0">
              <a:buNone/>
            </a:pPr>
            <a:r>
              <a:rPr lang="en-US" sz="2200" dirty="0">
                <a:solidFill>
                  <a:srgbClr val="00D4FF"/>
                </a:solidFill>
                <a:latin typeface="Calibri" pitchFamily="34" charset="0"/>
                <a:ea typeface="Calibri" pitchFamily="34" charset="-122"/>
                <a:cs typeface="Calibri" pitchFamily="34" charset="-120"/>
              </a:rPr>
              <a:t>Cross-chain liquidity, routed by intent</a:t>
            </a:r>
            <a:endParaRPr lang="en-US" sz="2200" dirty="0"/>
          </a:p>
        </p:txBody>
      </p:sp>
      <p:sp>
        <p:nvSpPr>
          <p:cNvPr id="7" name="Text 5"/>
          <p:cNvSpPr/>
          <p:nvPr/>
        </p:nvSpPr>
        <p:spPr>
          <a:xfrm>
            <a:off x="411480" y="3017520"/>
            <a:ext cx="6858000" cy="365760"/>
          </a:xfrm>
          <a:prstGeom prst="rect">
            <a:avLst/>
          </a:prstGeom>
          <a:noFill/>
          <a:ln/>
        </p:spPr>
        <p:txBody>
          <a:bodyPr wrap="square" lIns="0" tIns="0" rIns="0" bIns="0" rtlCol="0" anchor="ctr"/>
          <a:lstStyle/>
          <a:p>
            <a:pPr algn="l" indent="0" marL="0">
              <a:buNone/>
            </a:pPr>
            <a:r>
              <a:rPr lang="en-US" sz="1400" dirty="0">
                <a:solidFill>
                  <a:srgbClr val="8888AA"/>
                </a:solidFill>
                <a:latin typeface="Calibri" pitchFamily="34" charset="0"/>
                <a:ea typeface="Calibri" pitchFamily="34" charset="-122"/>
                <a:cs typeface="Calibri" pitchFamily="34" charset="-120"/>
              </a:rPr>
              <a:t>TRV Protocol  —  Investor Presentation  —  October 2026  —  $TRV live on Solana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algn="l" indent="0" marL="0">
              <a:buNone/>
            </a:pPr>
            <a:r>
              <a:rPr lang="en-US" sz="3400" b="1" dirty="0">
                <a:solidFill>
                  <a:srgbClr val="1E2761"/>
                </a:solidFill>
                <a:latin typeface="Georgia" pitchFamily="34" charset="0"/>
                <a:ea typeface="Georgia" pitchFamily="34" charset="-122"/>
                <a:cs typeface="Georgia" pitchFamily="34" charset="-120"/>
              </a:rPr>
              <a:t>DeFi liquidity is fragmented</a:t>
            </a:r>
            <a:endParaRPr lang="en-US" sz="3400" dirty="0"/>
          </a:p>
        </p:txBody>
      </p:sp>
      <p:sp>
        <p:nvSpPr>
          <p:cNvPr id="3" name="Shape 1"/>
          <p:cNvSpPr/>
          <p:nvPr/>
        </p:nvSpPr>
        <p:spPr>
          <a:xfrm>
            <a:off x="320040" y="1188720"/>
            <a:ext cx="2651760" cy="2743200"/>
          </a:xfrm>
          <a:prstGeom prst="rect">
            <a:avLst/>
          </a:prstGeom>
          <a:solidFill>
            <a:srgbClr val="FFFFFF"/>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4" name="Shape 2"/>
          <p:cNvSpPr/>
          <p:nvPr/>
        </p:nvSpPr>
        <p:spPr>
          <a:xfrm>
            <a:off x="320040" y="1188720"/>
            <a:ext cx="2651760" cy="64008"/>
          </a:xfrm>
          <a:prstGeom prst="rect">
            <a:avLst/>
          </a:prstGeom>
          <a:solidFill>
            <a:srgbClr val="00D4FF"/>
          </a:solidFill>
          <a:ln w="12700">
            <a:solidFill>
              <a:srgbClr val="00D4FF"/>
            </a:solidFill>
            <a:prstDash val="solid"/>
          </a:ln>
        </p:spPr>
        <p:txBody>
          <a:bodyPr/>
          <a:p/>
        </p:txBody>
      </p:sp>
      <p:sp>
        <p:nvSpPr>
          <p:cNvPr id="5" name="Text 3"/>
          <p:cNvSpPr/>
          <p:nvPr/>
        </p:nvSpPr>
        <p:spPr>
          <a:xfrm>
            <a:off x="457200" y="1353312"/>
            <a:ext cx="237744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Georgia" pitchFamily="34" charset="0"/>
                <a:ea typeface="Georgia" pitchFamily="34" charset="-122"/>
                <a:cs typeface="Georgia" pitchFamily="34" charset="-120"/>
              </a:rPr>
              <a:t>60+ Blockchains</a:t>
            </a:r>
            <a:endParaRPr lang="en-US" sz="2200" dirty="0"/>
          </a:p>
        </p:txBody>
      </p:sp>
      <p:sp>
        <p:nvSpPr>
          <p:cNvPr id="6" name="Text 4"/>
          <p:cNvSpPr/>
          <p:nvPr/>
        </p:nvSpPr>
        <p:spPr>
          <a:xfrm>
            <a:off x="457200" y="2148840"/>
            <a:ext cx="2377440" cy="1554480"/>
          </a:xfrm>
          <a:prstGeom prst="rect">
            <a:avLst/>
          </a:prstGeom>
          <a:noFill/>
          <a:ln/>
        </p:spPr>
        <p:txBody>
          <a:bodyPr wrap="square" lIns="0" tIns="0" rIns="0" bIns="0" rtlCol="0" anchor="t"/>
          <a:lstStyle/>
          <a:p>
            <a:pPr algn="ctr" indent="0" marL="0">
              <a:buNone/>
            </a:pPr>
            <a:r>
              <a:rPr lang="en-US" sz="1400" dirty="0">
                <a:solidFill>
                  <a:srgbClr val="1A1A2E"/>
                </a:solidFill>
                <a:latin typeface="Calibri" pitchFamily="34" charset="0"/>
                <a:ea typeface="Calibri" pitchFamily="34" charset="-122"/>
                <a:cs typeface="Calibri" pitchFamily="34" charset="-120"/>
              </a:rPr>
              <a:t>Hundreds of DEXs</a:t>
            </a:r>
            <a:endParaRPr lang="en-US" sz="1400" dirty="0"/>
          </a:p>
          <a:p>
            <a:pPr algn="ctr" indent="0" marL="0">
              <a:buNone/>
            </a:pPr>
            <a:r>
              <a:rPr lang="en-US" sz="1400" dirty="0">
                <a:solidFill>
                  <a:srgbClr val="1A1A2E"/>
                </a:solidFill>
                <a:latin typeface="Calibri" pitchFamily="34" charset="0"/>
                <a:ea typeface="Calibri" pitchFamily="34" charset="-122"/>
                <a:cs typeface="Calibri" pitchFamily="34" charset="-120"/>
              </a:rPr>
              <a:t>that don't talk to each other</a:t>
            </a:r>
            <a:endParaRPr lang="en-US" sz="1400" dirty="0"/>
          </a:p>
        </p:txBody>
      </p:sp>
      <p:sp>
        <p:nvSpPr>
          <p:cNvPr id="7" name="Shape 5"/>
          <p:cNvSpPr/>
          <p:nvPr/>
        </p:nvSpPr>
        <p:spPr>
          <a:xfrm>
            <a:off x="3246120" y="1188720"/>
            <a:ext cx="2651760" cy="2743200"/>
          </a:xfrm>
          <a:prstGeom prst="rect">
            <a:avLst/>
          </a:prstGeom>
          <a:solidFill>
            <a:srgbClr val="FFFFFF"/>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8" name="Shape 6"/>
          <p:cNvSpPr/>
          <p:nvPr/>
        </p:nvSpPr>
        <p:spPr>
          <a:xfrm>
            <a:off x="3246120" y="1188720"/>
            <a:ext cx="2651760" cy="64008"/>
          </a:xfrm>
          <a:prstGeom prst="rect">
            <a:avLst/>
          </a:prstGeom>
          <a:solidFill>
            <a:srgbClr val="00D4FF"/>
          </a:solidFill>
          <a:ln w="12700">
            <a:solidFill>
              <a:srgbClr val="00D4FF"/>
            </a:solidFill>
            <a:prstDash val="solid"/>
          </a:ln>
        </p:spPr>
        <p:txBody>
          <a:bodyPr/>
          <a:p/>
        </p:txBody>
      </p:sp>
      <p:sp>
        <p:nvSpPr>
          <p:cNvPr id="9" name="Text 7"/>
          <p:cNvSpPr/>
          <p:nvPr/>
        </p:nvSpPr>
        <p:spPr>
          <a:xfrm>
            <a:off x="3383280" y="1353312"/>
            <a:ext cx="237744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Georgia" pitchFamily="34" charset="0"/>
                <a:ea typeface="Georgia" pitchFamily="34" charset="-122"/>
                <a:cs typeface="Georgia" pitchFamily="34" charset="-120"/>
              </a:rPr>
              <a:t>$150B+ TVL</a:t>
            </a:r>
            <a:endParaRPr lang="en-US" sz="2200" dirty="0"/>
          </a:p>
        </p:txBody>
      </p:sp>
      <p:sp>
        <p:nvSpPr>
          <p:cNvPr id="10" name="Text 8"/>
          <p:cNvSpPr/>
          <p:nvPr/>
        </p:nvSpPr>
        <p:spPr>
          <a:xfrm>
            <a:off x="3383280" y="2148840"/>
            <a:ext cx="2377440" cy="1554480"/>
          </a:xfrm>
          <a:prstGeom prst="rect">
            <a:avLst/>
          </a:prstGeom>
          <a:noFill/>
          <a:ln/>
        </p:spPr>
        <p:txBody>
          <a:bodyPr wrap="square" lIns="0" tIns="0" rIns="0" bIns="0" rtlCol="0" anchor="t"/>
          <a:lstStyle/>
          <a:p>
            <a:pPr algn="ctr" indent="0" marL="0">
              <a:buNone/>
            </a:pPr>
            <a:r>
              <a:rPr lang="en-US" sz="1400" dirty="0">
                <a:solidFill>
                  <a:srgbClr val="1A1A2E"/>
                </a:solidFill>
                <a:latin typeface="Calibri" pitchFamily="34" charset="0"/>
                <a:ea typeface="Calibri" pitchFamily="34" charset="-122"/>
                <a:cs typeface="Calibri" pitchFamily="34" charset="-120"/>
              </a:rPr>
              <a:t>Scattered and unreachable</a:t>
            </a:r>
            <a:endParaRPr lang="en-US" sz="1400" dirty="0"/>
          </a:p>
          <a:p>
            <a:pPr algn="ctr" indent="0" marL="0">
              <a:buNone/>
            </a:pPr>
            <a:r>
              <a:rPr lang="en-US" sz="1400" dirty="0">
                <a:solidFill>
                  <a:srgbClr val="1A1A2E"/>
                </a:solidFill>
                <a:latin typeface="Calibri" pitchFamily="34" charset="0"/>
                <a:ea typeface="Calibri" pitchFamily="34" charset="-122"/>
                <a:cs typeface="Calibri" pitchFamily="34" charset="-120"/>
              </a:rPr>
              <a:t>from a single entry point</a:t>
            </a:r>
            <a:endParaRPr lang="en-US" sz="1400" dirty="0"/>
          </a:p>
        </p:txBody>
      </p:sp>
      <p:sp>
        <p:nvSpPr>
          <p:cNvPr id="11" name="Shape 9"/>
          <p:cNvSpPr/>
          <p:nvPr/>
        </p:nvSpPr>
        <p:spPr>
          <a:xfrm>
            <a:off x="6172200" y="1188720"/>
            <a:ext cx="2651760" cy="2743200"/>
          </a:xfrm>
          <a:prstGeom prst="rect">
            <a:avLst/>
          </a:prstGeom>
          <a:solidFill>
            <a:srgbClr val="FFFFFF"/>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12" name="Shape 10"/>
          <p:cNvSpPr/>
          <p:nvPr/>
        </p:nvSpPr>
        <p:spPr>
          <a:xfrm>
            <a:off x="6172200" y="1188720"/>
            <a:ext cx="2651760" cy="64008"/>
          </a:xfrm>
          <a:prstGeom prst="rect">
            <a:avLst/>
          </a:prstGeom>
          <a:solidFill>
            <a:srgbClr val="00D4FF"/>
          </a:solidFill>
          <a:ln w="12700">
            <a:solidFill>
              <a:srgbClr val="00D4FF"/>
            </a:solidFill>
            <a:prstDash val="solid"/>
          </a:ln>
        </p:spPr>
        <p:txBody>
          <a:bodyPr/>
          <a:p/>
        </p:txBody>
      </p:sp>
      <p:sp>
        <p:nvSpPr>
          <p:cNvPr id="13" name="Text 11"/>
          <p:cNvSpPr/>
          <p:nvPr/>
        </p:nvSpPr>
        <p:spPr>
          <a:xfrm>
            <a:off x="6309360" y="1353312"/>
            <a:ext cx="237744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Georgia" pitchFamily="34" charset="0"/>
                <a:ea typeface="Georgia" pitchFamily="34" charset="-122"/>
                <a:cs typeface="Georgia" pitchFamily="34" charset="-120"/>
              </a:rPr>
              <a:t>3–8% Slippage</a:t>
            </a:r>
            <a:endParaRPr lang="en-US" sz="2200" dirty="0"/>
          </a:p>
        </p:txBody>
      </p:sp>
      <p:sp>
        <p:nvSpPr>
          <p:cNvPr id="14" name="Text 12"/>
          <p:cNvSpPr/>
          <p:nvPr/>
        </p:nvSpPr>
        <p:spPr>
          <a:xfrm>
            <a:off x="6309360" y="2148840"/>
            <a:ext cx="2377440" cy="1554480"/>
          </a:xfrm>
          <a:prstGeom prst="rect">
            <a:avLst/>
          </a:prstGeom>
          <a:noFill/>
          <a:ln/>
        </p:spPr>
        <p:txBody>
          <a:bodyPr wrap="square" lIns="0" tIns="0" rIns="0" bIns="0" rtlCol="0" anchor="t"/>
          <a:lstStyle/>
          <a:p>
            <a:pPr algn="ctr" indent="0" marL="0">
              <a:buNone/>
            </a:pPr>
            <a:r>
              <a:rPr lang="en-US" sz="1400" dirty="0">
                <a:solidFill>
                  <a:srgbClr val="1A1A2E"/>
                </a:solidFill>
                <a:latin typeface="Calibri" pitchFamily="34" charset="0"/>
                <a:ea typeface="Calibri" pitchFamily="34" charset="-122"/>
                <a:cs typeface="Calibri" pitchFamily="34" charset="-120"/>
              </a:rPr>
              <a:t>Users pay a high price</a:t>
            </a:r>
            <a:endParaRPr lang="en-US" sz="1400" dirty="0"/>
          </a:p>
          <a:p>
            <a:pPr algn="ctr" indent="0" marL="0">
              <a:buNone/>
            </a:pPr>
            <a:r>
              <a:rPr lang="en-US" sz="1400" dirty="0">
                <a:solidFill>
                  <a:srgbClr val="1A1A2E"/>
                </a:solidFill>
                <a:latin typeface="Calibri" pitchFamily="34" charset="0"/>
                <a:ea typeface="Calibri" pitchFamily="34" charset="-122"/>
                <a:cs typeface="Calibri" pitchFamily="34" charset="-120"/>
              </a:rPr>
              <a:t>for fragmentation</a:t>
            </a:r>
            <a:endParaRPr lang="en-US" sz="1400" dirty="0"/>
          </a:p>
        </p:txBody>
      </p:sp>
      <p:sp>
        <p:nvSpPr>
          <p:cNvPr id="15" name="Text 13"/>
          <p:cNvSpPr/>
          <p:nvPr/>
        </p:nvSpPr>
        <p:spPr>
          <a:xfrm>
            <a:off x="365760" y="4160520"/>
            <a:ext cx="8412480" cy="502920"/>
          </a:xfrm>
          <a:prstGeom prst="rect">
            <a:avLst/>
          </a:prstGeom>
          <a:noFill/>
          <a:ln/>
        </p:spPr>
        <p:txBody>
          <a:bodyPr wrap="square" lIns="0" tIns="0" rIns="0" bIns="0" rtlCol="0" anchor="ctr"/>
          <a:lstStyle/>
          <a:p>
            <a:pPr algn="ctr" indent="0" marL="0">
              <a:buNone/>
            </a:pPr>
            <a:r>
              <a:rPr lang="en-US" sz="1300" i="1" dirty="0">
                <a:solidFill>
                  <a:srgbClr val="8888AA"/>
                </a:solidFill>
                <a:latin typeface="Calibri" pitchFamily="34" charset="0"/>
                <a:ea typeface="Calibri" pitchFamily="34" charset="-122"/>
                <a:cs typeface="Calibri" pitchFamily="34" charset="-120"/>
              </a:rPr>
              <a:t>Users juggle manual bridges and multiple wallets, and still get poor execution.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8412480" cy="594360"/>
          </a:xfrm>
          <a:prstGeom prst="rect">
            <a:avLst/>
          </a:prstGeom>
          <a:noFill/>
          <a:ln/>
        </p:spPr>
        <p:txBody>
          <a:bodyPr wrap="square" lIns="0" tIns="0" rIns="0" bIns="0" rtlCol="0" anchor="ctr"/>
          <a:lstStyle/>
          <a:p>
            <a:pPr algn="l" indent="0" marL="0">
              <a:buNone/>
            </a:pPr>
            <a:r>
              <a:rPr lang="en-US" sz="3400" b="1" dirty="0">
                <a:solidFill>
                  <a:srgbClr val="1E2761"/>
                </a:solidFill>
                <a:latin typeface="Georgia" pitchFamily="34" charset="0"/>
                <a:ea typeface="Georgia" pitchFamily="34" charset="-122"/>
                <a:cs typeface="Georgia" pitchFamily="34" charset="-120"/>
              </a:rPr>
              <a:t>A large and growing market</a:t>
            </a:r>
            <a:endParaRPr lang="en-US" sz="3400" dirty="0"/>
          </a:p>
        </p:txBody>
      </p:sp>
      <p:sp>
        <p:nvSpPr>
          <p:cNvPr id="3" name="Shape 1"/>
          <p:cNvSpPr/>
          <p:nvPr/>
        </p:nvSpPr>
        <p:spPr>
          <a:xfrm>
            <a:off x="457200" y="1280160"/>
            <a:ext cx="2560320" cy="21945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4" name="Text 2"/>
          <p:cNvSpPr/>
          <p:nvPr/>
        </p:nvSpPr>
        <p:spPr>
          <a:xfrm>
            <a:off x="548640" y="1417320"/>
            <a:ext cx="23774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$100B+</a:t>
            </a:r>
            <a:endParaRPr lang="en-US" sz="4000" dirty="0"/>
          </a:p>
        </p:txBody>
      </p:sp>
      <p:sp>
        <p:nvSpPr>
          <p:cNvPr id="5" name="Text 3"/>
          <p:cNvSpPr/>
          <p:nvPr/>
        </p:nvSpPr>
        <p:spPr>
          <a:xfrm>
            <a:off x="548640" y="2514600"/>
            <a:ext cx="23774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DeFi TVL</a:t>
            </a:r>
            <a:endParaRPr lang="en-US" sz="1300" dirty="0"/>
          </a:p>
        </p:txBody>
      </p:sp>
      <p:sp>
        <p:nvSpPr>
          <p:cNvPr id="6" name="Shape 4"/>
          <p:cNvSpPr/>
          <p:nvPr/>
        </p:nvSpPr>
        <p:spPr>
          <a:xfrm>
            <a:off x="3200400" y="1280160"/>
            <a:ext cx="2560320" cy="2194560"/>
          </a:xfrm>
          <a:prstGeom prst="rect">
            <a:avLst/>
          </a:prstGeom>
          <a:solidFill>
            <a:srgbClr val="00D4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7" name="Text 5"/>
          <p:cNvSpPr/>
          <p:nvPr/>
        </p:nvSpPr>
        <p:spPr>
          <a:xfrm>
            <a:off x="3291840" y="1417320"/>
            <a:ext cx="23774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$1T+</a:t>
            </a:r>
            <a:endParaRPr lang="en-US" sz="4000" dirty="0"/>
          </a:p>
        </p:txBody>
      </p:sp>
      <p:sp>
        <p:nvSpPr>
          <p:cNvPr id="8" name="Text 6"/>
          <p:cNvSpPr/>
          <p:nvPr/>
        </p:nvSpPr>
        <p:spPr>
          <a:xfrm>
            <a:off x="3291840" y="2514600"/>
            <a:ext cx="23774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Annual DEX volume</a:t>
            </a:r>
            <a:endParaRPr lang="en-US" sz="1300" dirty="0"/>
          </a:p>
        </p:txBody>
      </p:sp>
      <p:sp>
        <p:nvSpPr>
          <p:cNvPr id="9" name="Shape 7"/>
          <p:cNvSpPr/>
          <p:nvPr/>
        </p:nvSpPr>
        <p:spPr>
          <a:xfrm>
            <a:off x="5943600" y="1280160"/>
            <a:ext cx="2560320" cy="2194560"/>
          </a:xfrm>
          <a:prstGeom prst="rect">
            <a:avLst/>
          </a:prstGeom>
          <a:solidFill>
            <a:srgbClr val="7B2FBE"/>
          </a:solidFill>
          <a:ln w="12700">
            <a:solidFill>
              <a:srgbClr val="7B2FBE"/>
            </a:solidFill>
            <a:prstDash val="solid"/>
          </a:ln>
          <a:effectLst>
            <a:outerShdw sx="100000" sy="100000" kx="0" ky="0" algn="bl" rotWithShape="0" blurRad="101600" dist="38100" dir="8100000">
              <a:srgbClr val="000000">
                <a:alpha val="18000"/>
              </a:srgbClr>
            </a:outerShdw>
          </a:effectLst>
        </p:spPr>
        <p:txBody>
          <a:bodyPr/>
          <a:p/>
        </p:txBody>
      </p:sp>
      <p:sp>
        <p:nvSpPr>
          <p:cNvPr id="10" name="Text 8"/>
          <p:cNvSpPr/>
          <p:nvPr/>
        </p:nvSpPr>
        <p:spPr>
          <a:xfrm>
            <a:off x="6035040" y="1417320"/>
            <a:ext cx="23774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60+</a:t>
            </a:r>
            <a:endParaRPr lang="en-US" sz="4000" dirty="0"/>
          </a:p>
        </p:txBody>
      </p:sp>
      <p:sp>
        <p:nvSpPr>
          <p:cNvPr id="11" name="Text 9"/>
          <p:cNvSpPr/>
          <p:nvPr/>
        </p:nvSpPr>
        <p:spPr>
          <a:xfrm>
            <a:off x="6035040" y="2514600"/>
            <a:ext cx="23774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Chains with their own liquidity</a:t>
            </a:r>
            <a:endParaRPr lang="en-US" sz="1300" dirty="0"/>
          </a:p>
        </p:txBody>
      </p:sp>
      <p:sp>
        <p:nvSpPr>
          <p:cNvPr id="12" name="Text 10"/>
          <p:cNvSpPr/>
          <p:nvPr/>
        </p:nvSpPr>
        <p:spPr>
          <a:xfrm>
            <a:off x="365760" y="3931920"/>
            <a:ext cx="8412480" cy="502920"/>
          </a:xfrm>
          <a:prstGeom prst="rect">
            <a:avLst/>
          </a:prstGeom>
          <a:noFill/>
          <a:ln/>
        </p:spPr>
        <p:txBody>
          <a:bodyPr wrap="square" lIns="0" tIns="0" rIns="0" bIns="0" rtlCol="0" anchor="ctr"/>
          <a:lstStyle/>
          <a:p>
            <a:pPr algn="ctr" indent="0" marL="0">
              <a:buNone/>
            </a:pPr>
            <a:r>
              <a:rPr lang="en-US" sz="1400" i="1" dirty="0">
                <a:solidFill>
                  <a:srgbClr val="8888AA"/>
                </a:solidFill>
                <a:latin typeface="Calibri" pitchFamily="34" charset="0"/>
                <a:ea typeface="Calibri" pitchFamily="34" charset="-122"/>
                <a:cs typeface="Calibri" pitchFamily="34" charset="-120"/>
              </a:rPr>
              <a:t>Approximate industry figures; sources vary. Every new chain adds another island of liquidity.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Traverse: One Flow. Any Chain.</a:t>
            </a:r>
            <a:endParaRPr lang="en-US" sz="3000" dirty="0"/>
          </a:p>
        </p:txBody>
      </p:sp>
      <p:sp>
        <p:nvSpPr>
          <p:cNvPr id="3" name="Shape 1"/>
          <p:cNvSpPr/>
          <p:nvPr/>
        </p:nvSpPr>
        <p:spPr>
          <a:xfrm>
            <a:off x="320040" y="1143000"/>
            <a:ext cx="4023360" cy="1463040"/>
          </a:xfrm>
          <a:prstGeom prst="rect">
            <a:avLst/>
          </a:prstGeom>
          <a:solidFill>
            <a:srgbClr val="FFFFFF"/>
          </a:solidFill>
          <a:ln w="12700">
            <a:solidFill>
              <a:srgbClr val="00D4FF"/>
            </a:solidFill>
            <a:prstDash val="solid"/>
          </a:ln>
        </p:spPr>
        <p:txBody>
          <a:bodyPr/>
          <a:p/>
        </p:txBody>
      </p:sp>
      <p:sp>
        <p:nvSpPr>
          <p:cNvPr id="4" name="Shape 2"/>
          <p:cNvSpPr/>
          <p:nvPr/>
        </p:nvSpPr>
        <p:spPr>
          <a:xfrm>
            <a:off x="320040" y="1143000"/>
            <a:ext cx="64008" cy="1463040"/>
          </a:xfrm>
          <a:prstGeom prst="rect">
            <a:avLst/>
          </a:prstGeom>
          <a:solidFill>
            <a:srgbClr val="00D4FF"/>
          </a:solidFill>
          <a:ln w="12700">
            <a:solidFill>
              <a:srgbClr val="00D4FF"/>
            </a:solidFill>
            <a:prstDash val="solid"/>
          </a:ln>
        </p:spPr>
        <p:txBody>
          <a:bodyPr/>
          <a:p/>
        </p:txBody>
      </p:sp>
      <p:sp>
        <p:nvSpPr>
          <p:cNvPr id="5" name="Text 3"/>
          <p:cNvSpPr/>
          <p:nvPr/>
        </p:nvSpPr>
        <p:spPr>
          <a:xfrm>
            <a:off x="502920" y="1234440"/>
            <a:ext cx="3749040" cy="411480"/>
          </a:xfrm>
          <a:prstGeom prst="rect">
            <a:avLst/>
          </a:prstGeom>
          <a:noFill/>
          <a:ln/>
        </p:spPr>
        <p:txBody>
          <a:bodyPr wrap="square" lIns="0" tIns="0" rIns="0" bIns="0" rtlCol="0" anchor="ctr"/>
          <a:lstStyle/>
          <a:p>
            <a:pPr algn="l" indent="0" marL="0">
              <a:buNone/>
            </a:pPr>
            <a:r>
              <a:rPr lang="en-US" sz="1600" b="1" dirty="0">
                <a:solidFill>
                  <a:srgbClr val="1E2761"/>
                </a:solidFill>
                <a:latin typeface="Georgia" pitchFamily="34" charset="0"/>
                <a:ea typeface="Georgia" pitchFamily="34" charset="-122"/>
                <a:cs typeface="Georgia" pitchFamily="34" charset="-120"/>
              </a:rPr>
              <a:t>Intent-Based</a:t>
            </a:r>
            <a:endParaRPr lang="en-US" sz="1600" dirty="0"/>
          </a:p>
        </p:txBody>
      </p:sp>
      <p:sp>
        <p:nvSpPr>
          <p:cNvPr id="6" name="Text 4"/>
          <p:cNvSpPr/>
          <p:nvPr/>
        </p:nvSpPr>
        <p:spPr>
          <a:xfrm>
            <a:off x="502920" y="1737360"/>
            <a:ext cx="3749040" cy="777240"/>
          </a:xfrm>
          <a:prstGeom prst="rect">
            <a:avLst/>
          </a:prstGeom>
          <a:noFill/>
          <a:ln/>
        </p:spPr>
        <p:txBody>
          <a:bodyPr wrap="square" lIns="0" tIns="0" rIns="0" bIns="0"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Users state what they want, not how to get it</a:t>
            </a:r>
            <a:endParaRPr lang="en-US" sz="1300" dirty="0"/>
          </a:p>
        </p:txBody>
      </p:sp>
      <p:sp>
        <p:nvSpPr>
          <p:cNvPr id="7" name="Shape 5"/>
          <p:cNvSpPr/>
          <p:nvPr/>
        </p:nvSpPr>
        <p:spPr>
          <a:xfrm>
            <a:off x="4800600" y="1143000"/>
            <a:ext cx="4023360" cy="1463040"/>
          </a:xfrm>
          <a:prstGeom prst="rect">
            <a:avLst/>
          </a:prstGeom>
          <a:solidFill>
            <a:srgbClr val="FFFFFF"/>
          </a:solidFill>
          <a:ln w="12700">
            <a:solidFill>
              <a:srgbClr val="00D4FF"/>
            </a:solidFill>
            <a:prstDash val="solid"/>
          </a:ln>
        </p:spPr>
        <p:txBody>
          <a:bodyPr/>
          <a:p/>
        </p:txBody>
      </p:sp>
      <p:sp>
        <p:nvSpPr>
          <p:cNvPr id="8" name="Shape 6"/>
          <p:cNvSpPr/>
          <p:nvPr/>
        </p:nvSpPr>
        <p:spPr>
          <a:xfrm>
            <a:off x="4800600" y="1143000"/>
            <a:ext cx="64008" cy="1463040"/>
          </a:xfrm>
          <a:prstGeom prst="rect">
            <a:avLst/>
          </a:prstGeom>
          <a:solidFill>
            <a:srgbClr val="00D4FF"/>
          </a:solidFill>
          <a:ln w="12700">
            <a:solidFill>
              <a:srgbClr val="00D4FF"/>
            </a:solidFill>
            <a:prstDash val="solid"/>
          </a:ln>
        </p:spPr>
        <p:txBody>
          <a:bodyPr/>
          <a:p/>
        </p:txBody>
      </p:sp>
      <p:sp>
        <p:nvSpPr>
          <p:cNvPr id="9" name="Text 7"/>
          <p:cNvSpPr/>
          <p:nvPr/>
        </p:nvSpPr>
        <p:spPr>
          <a:xfrm>
            <a:off x="4983480" y="1234440"/>
            <a:ext cx="3749040" cy="411480"/>
          </a:xfrm>
          <a:prstGeom prst="rect">
            <a:avLst/>
          </a:prstGeom>
          <a:noFill/>
          <a:ln/>
        </p:spPr>
        <p:txBody>
          <a:bodyPr wrap="square" lIns="0" tIns="0" rIns="0" bIns="0" rtlCol="0" anchor="ctr"/>
          <a:lstStyle/>
          <a:p>
            <a:pPr algn="l" indent="0" marL="0">
              <a:buNone/>
            </a:pPr>
            <a:r>
              <a:rPr lang="en-US" sz="1600" b="1" dirty="0">
                <a:solidFill>
                  <a:srgbClr val="1E2761"/>
                </a:solidFill>
                <a:latin typeface="Georgia" pitchFamily="34" charset="0"/>
                <a:ea typeface="Georgia" pitchFamily="34" charset="-122"/>
                <a:cs typeface="Georgia" pitchFamily="34" charset="-120"/>
              </a:rPr>
              <a:t>Solver Auction</a:t>
            </a:r>
            <a:endParaRPr lang="en-US" sz="1600" dirty="0"/>
          </a:p>
        </p:txBody>
      </p:sp>
      <p:sp>
        <p:nvSpPr>
          <p:cNvPr id="10" name="Text 8"/>
          <p:cNvSpPr/>
          <p:nvPr/>
        </p:nvSpPr>
        <p:spPr>
          <a:xfrm>
            <a:off x="4983480" y="1737360"/>
            <a:ext cx="3749040" cy="777240"/>
          </a:xfrm>
          <a:prstGeom prst="rect">
            <a:avLst/>
          </a:prstGeom>
          <a:noFill/>
          <a:ln/>
        </p:spPr>
        <p:txBody>
          <a:bodyPr wrap="square" lIns="0" tIns="0" rIns="0" bIns="0"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Competition drives better execution</a:t>
            </a:r>
            <a:endParaRPr lang="en-US" sz="1300" dirty="0"/>
          </a:p>
        </p:txBody>
      </p:sp>
      <p:sp>
        <p:nvSpPr>
          <p:cNvPr id="11" name="Shape 9"/>
          <p:cNvSpPr/>
          <p:nvPr/>
        </p:nvSpPr>
        <p:spPr>
          <a:xfrm>
            <a:off x="320040" y="2834640"/>
            <a:ext cx="4023360" cy="1463040"/>
          </a:xfrm>
          <a:prstGeom prst="rect">
            <a:avLst/>
          </a:prstGeom>
          <a:solidFill>
            <a:srgbClr val="FFFFFF"/>
          </a:solidFill>
          <a:ln w="12700">
            <a:solidFill>
              <a:srgbClr val="00D4FF"/>
            </a:solidFill>
            <a:prstDash val="solid"/>
          </a:ln>
        </p:spPr>
        <p:txBody>
          <a:bodyPr/>
          <a:p/>
        </p:txBody>
      </p:sp>
      <p:sp>
        <p:nvSpPr>
          <p:cNvPr id="12" name="Shape 10"/>
          <p:cNvSpPr/>
          <p:nvPr/>
        </p:nvSpPr>
        <p:spPr>
          <a:xfrm>
            <a:off x="320040" y="2834640"/>
            <a:ext cx="64008" cy="1463040"/>
          </a:xfrm>
          <a:prstGeom prst="rect">
            <a:avLst/>
          </a:prstGeom>
          <a:solidFill>
            <a:srgbClr val="00D4FF"/>
          </a:solidFill>
          <a:ln w="12700">
            <a:solidFill>
              <a:srgbClr val="00D4FF"/>
            </a:solidFill>
            <a:prstDash val="solid"/>
          </a:ln>
        </p:spPr>
        <p:txBody>
          <a:bodyPr/>
          <a:p/>
        </p:txBody>
      </p:sp>
      <p:sp>
        <p:nvSpPr>
          <p:cNvPr id="13" name="Text 11"/>
          <p:cNvSpPr/>
          <p:nvPr/>
        </p:nvSpPr>
        <p:spPr>
          <a:xfrm>
            <a:off x="502920" y="2926080"/>
            <a:ext cx="3749040" cy="411480"/>
          </a:xfrm>
          <a:prstGeom prst="rect">
            <a:avLst/>
          </a:prstGeom>
          <a:noFill/>
          <a:ln/>
        </p:spPr>
        <p:txBody>
          <a:bodyPr wrap="square" lIns="0" tIns="0" rIns="0" bIns="0" rtlCol="0" anchor="ctr"/>
          <a:lstStyle/>
          <a:p>
            <a:pPr algn="l" indent="0" marL="0">
              <a:buNone/>
            </a:pPr>
            <a:r>
              <a:rPr lang="en-US" sz="1600" b="1" dirty="0">
                <a:solidFill>
                  <a:srgbClr val="1E2761"/>
                </a:solidFill>
                <a:latin typeface="Georgia" pitchFamily="34" charset="0"/>
                <a:ea typeface="Georgia" pitchFamily="34" charset="-122"/>
                <a:cs typeface="Georgia" pitchFamily="34" charset="-120"/>
              </a:rPr>
              <a:t>Cross-Chain</a:t>
            </a:r>
            <a:endParaRPr lang="en-US" sz="1600" dirty="0"/>
          </a:p>
        </p:txBody>
      </p:sp>
      <p:sp>
        <p:nvSpPr>
          <p:cNvPr id="14" name="Text 12"/>
          <p:cNvSpPr/>
          <p:nvPr/>
        </p:nvSpPr>
        <p:spPr>
          <a:xfrm>
            <a:off x="502920" y="3429000"/>
            <a:ext cx="3749040" cy="777240"/>
          </a:xfrm>
          <a:prstGeom prst="rect">
            <a:avLst/>
          </a:prstGeom>
          <a:noFill/>
          <a:ln/>
        </p:spPr>
        <p:txBody>
          <a:bodyPr wrap="square" lIns="0" tIns="0" rIns="0" bIns="0"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Any token, any network, one flow</a:t>
            </a:r>
            <a:endParaRPr lang="en-US" sz="1300" dirty="0"/>
          </a:p>
        </p:txBody>
      </p:sp>
      <p:sp>
        <p:nvSpPr>
          <p:cNvPr id="15" name="Shape 13"/>
          <p:cNvSpPr/>
          <p:nvPr/>
        </p:nvSpPr>
        <p:spPr>
          <a:xfrm>
            <a:off x="4800600" y="2834640"/>
            <a:ext cx="4023360" cy="1463040"/>
          </a:xfrm>
          <a:prstGeom prst="rect">
            <a:avLst/>
          </a:prstGeom>
          <a:solidFill>
            <a:srgbClr val="FFFFFF"/>
          </a:solidFill>
          <a:ln w="12700">
            <a:solidFill>
              <a:srgbClr val="00D4FF"/>
            </a:solidFill>
            <a:prstDash val="solid"/>
          </a:ln>
        </p:spPr>
        <p:txBody>
          <a:bodyPr/>
          <a:p/>
        </p:txBody>
      </p:sp>
      <p:sp>
        <p:nvSpPr>
          <p:cNvPr id="16" name="Shape 14"/>
          <p:cNvSpPr/>
          <p:nvPr/>
        </p:nvSpPr>
        <p:spPr>
          <a:xfrm>
            <a:off x="4800600" y="2834640"/>
            <a:ext cx="64008" cy="1463040"/>
          </a:xfrm>
          <a:prstGeom prst="rect">
            <a:avLst/>
          </a:prstGeom>
          <a:solidFill>
            <a:srgbClr val="00D4FF"/>
          </a:solidFill>
          <a:ln w="12700">
            <a:solidFill>
              <a:srgbClr val="00D4FF"/>
            </a:solidFill>
            <a:prstDash val="solid"/>
          </a:ln>
        </p:spPr>
        <p:txBody>
          <a:bodyPr/>
          <a:p/>
        </p:txBody>
      </p:sp>
      <p:sp>
        <p:nvSpPr>
          <p:cNvPr id="17" name="Text 15"/>
          <p:cNvSpPr/>
          <p:nvPr/>
        </p:nvSpPr>
        <p:spPr>
          <a:xfrm>
            <a:off x="4983480" y="2926080"/>
            <a:ext cx="3749040" cy="411480"/>
          </a:xfrm>
          <a:prstGeom prst="rect">
            <a:avLst/>
          </a:prstGeom>
          <a:noFill/>
          <a:ln/>
        </p:spPr>
        <p:txBody>
          <a:bodyPr wrap="square" lIns="0" tIns="0" rIns="0" bIns="0" rtlCol="0" anchor="ctr"/>
          <a:lstStyle/>
          <a:p>
            <a:pPr algn="l" indent="0" marL="0">
              <a:buNone/>
            </a:pPr>
            <a:r>
              <a:rPr lang="en-US" sz="1600" b="1" dirty="0">
                <a:solidFill>
                  <a:srgbClr val="1E2761"/>
                </a:solidFill>
                <a:latin typeface="Georgia" pitchFamily="34" charset="0"/>
                <a:ea typeface="Georgia" pitchFamily="34" charset="-122"/>
                <a:cs typeface="Georgia" pitchFamily="34" charset="-120"/>
              </a:rPr>
              <a:t>Non-Custodial</a:t>
            </a:r>
            <a:endParaRPr lang="en-US" sz="1600" dirty="0"/>
          </a:p>
        </p:txBody>
      </p:sp>
      <p:sp>
        <p:nvSpPr>
          <p:cNvPr id="18" name="Text 16"/>
          <p:cNvSpPr/>
          <p:nvPr/>
        </p:nvSpPr>
        <p:spPr>
          <a:xfrm>
            <a:off x="4983480" y="3429000"/>
            <a:ext cx="3749040" cy="777240"/>
          </a:xfrm>
          <a:prstGeom prst="rect">
            <a:avLst/>
          </a:prstGeom>
          <a:noFill/>
          <a:ln/>
        </p:spPr>
        <p:txBody>
          <a:bodyPr wrap="square" lIns="0" tIns="0" rIns="0" bIns="0"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Verifiable smart contracts, no intermediaries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Execution in 4 Steps</a:t>
            </a:r>
            <a:endParaRPr lang="en-US" sz="3200" dirty="0"/>
          </a:p>
        </p:txBody>
      </p:sp>
      <p:sp>
        <p:nvSpPr>
          <p:cNvPr id="3" name="Shape 1"/>
          <p:cNvSpPr/>
          <p:nvPr/>
        </p:nvSpPr>
        <p:spPr>
          <a:xfrm>
            <a:off x="283464" y="960120"/>
            <a:ext cx="1828800" cy="26517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4" name="Text 2"/>
          <p:cNvSpPr/>
          <p:nvPr/>
        </p:nvSpPr>
        <p:spPr>
          <a:xfrm>
            <a:off x="329184" y="1069848"/>
            <a:ext cx="1737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5" name="Text 3"/>
          <p:cNvSpPr/>
          <p:nvPr/>
        </p:nvSpPr>
        <p:spPr>
          <a:xfrm>
            <a:off x="356616" y="1527048"/>
            <a:ext cx="1682496" cy="1965960"/>
          </a:xfrm>
          <a:prstGeom prst="rect">
            <a:avLst/>
          </a:prstGeom>
          <a:noFill/>
          <a:ln/>
        </p:spPr>
        <p:txBody>
          <a:bodyPr wrap="square" lIns="0" tIns="0" rIns="0" bIns="0" rtlCol="0" anchor="t"/>
          <a:lstStyle/>
          <a:p>
            <a:pPr algn="ctr" indent="0" marL="0">
              <a:buNone/>
            </a:pPr>
            <a:r>
              <a:rPr lang="en-US" sz="1200" dirty="0">
                <a:solidFill>
                  <a:srgbClr val="E8E8F0"/>
                </a:solidFill>
                <a:latin typeface="Calibri" pitchFamily="34" charset="0"/>
                <a:ea typeface="Calibri" pitchFamily="34" charset="-122"/>
                <a:cs typeface="Calibri" pitchFamily="34" charset="-120"/>
              </a:rPr>
              <a:t>Submits a signed</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intent (EIP-712):</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wants token X</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on chain Y</a:t>
            </a:r>
            <a:endParaRPr lang="en-US" sz="1200" dirty="0"/>
          </a:p>
        </p:txBody>
      </p:sp>
      <p:sp>
        <p:nvSpPr>
          <p:cNvPr id="6" name="Shape 4"/>
          <p:cNvSpPr/>
          <p:nvPr/>
        </p:nvSpPr>
        <p:spPr>
          <a:xfrm>
            <a:off x="2276856" y="2231136"/>
            <a:ext cx="256032" cy="109728"/>
          </a:xfrm>
          <a:prstGeom prst="rect">
            <a:avLst/>
          </a:prstGeom>
          <a:solidFill>
            <a:srgbClr val="00D4FF"/>
          </a:solidFill>
          <a:ln w="12700">
            <a:solidFill>
              <a:srgbClr val="00D4FF"/>
            </a:solidFill>
            <a:prstDash val="solid"/>
          </a:ln>
        </p:spPr>
        <p:txBody>
          <a:bodyPr/>
          <a:p/>
        </p:txBody>
      </p:sp>
      <p:sp>
        <p:nvSpPr>
          <p:cNvPr id="7" name="Shape 5"/>
          <p:cNvSpPr/>
          <p:nvPr/>
        </p:nvSpPr>
        <p:spPr>
          <a:xfrm>
            <a:off x="2532888" y="960120"/>
            <a:ext cx="1828800" cy="2651760"/>
          </a:xfrm>
          <a:prstGeom prst="rect">
            <a:avLst/>
          </a:prstGeom>
          <a:solidFill>
            <a:srgbClr val="00D4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8" name="Text 6"/>
          <p:cNvSpPr/>
          <p:nvPr/>
        </p:nvSpPr>
        <p:spPr>
          <a:xfrm>
            <a:off x="2578608" y="1069848"/>
            <a:ext cx="1737360"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AUCTION</a:t>
            </a:r>
            <a:endParaRPr lang="en-US" sz="1300" dirty="0"/>
          </a:p>
        </p:txBody>
      </p:sp>
      <p:sp>
        <p:nvSpPr>
          <p:cNvPr id="9" name="Text 7"/>
          <p:cNvSpPr/>
          <p:nvPr/>
        </p:nvSpPr>
        <p:spPr>
          <a:xfrm>
            <a:off x="2606040" y="1527048"/>
            <a:ext cx="1682496" cy="1965960"/>
          </a:xfrm>
          <a:prstGeom prst="rect">
            <a:avLst/>
          </a:prstGeom>
          <a:noFill/>
          <a:ln/>
        </p:spPr>
        <p:txBody>
          <a:bodyPr wrap="square" lIns="0" tIns="0" rIns="0" bIns="0" rtlCol="0" anchor="t"/>
          <a:lstStyle/>
          <a:p>
            <a:pPr algn="ctr" indent="0" marL="0">
              <a:buNone/>
            </a:pPr>
            <a:r>
              <a:rPr lang="en-US" sz="1200" dirty="0">
                <a:solidFill>
                  <a:srgbClr val="1E2761"/>
                </a:solidFill>
                <a:latin typeface="Calibri" pitchFamily="34" charset="0"/>
                <a:ea typeface="Calibri" pitchFamily="34" charset="-122"/>
                <a:cs typeface="Calibri" pitchFamily="34" charset="-120"/>
              </a:rPr>
              <a:t>Solvers compete</a:t>
            </a:r>
            <a:endParaRPr lang="en-US" sz="1200" dirty="0"/>
          </a:p>
          <a:p>
            <a:pPr algn="ctr" indent="0" marL="0">
              <a:buNone/>
            </a:pPr>
            <a:r>
              <a:rPr lang="en-US" sz="1200" dirty="0">
                <a:solidFill>
                  <a:srgbClr val="1E2761"/>
                </a:solidFill>
                <a:latin typeface="Calibri" pitchFamily="34" charset="0"/>
                <a:ea typeface="Calibri" pitchFamily="34" charset="-122"/>
                <a:cs typeface="Calibri" pitchFamily="34" charset="-120"/>
              </a:rPr>
              <a:t>by offering the best</a:t>
            </a:r>
            <a:endParaRPr lang="en-US" sz="1200" dirty="0"/>
          </a:p>
          <a:p>
            <a:pPr algn="ctr" indent="0" marL="0">
              <a:buNone/>
            </a:pPr>
            <a:r>
              <a:rPr lang="en-US" sz="1200" dirty="0">
                <a:solidFill>
                  <a:srgbClr val="1E2761"/>
                </a:solidFill>
                <a:latin typeface="Calibri" pitchFamily="34" charset="0"/>
                <a:ea typeface="Calibri" pitchFamily="34" charset="-122"/>
                <a:cs typeface="Calibri" pitchFamily="34" charset="-120"/>
              </a:rPr>
              <a:t>output</a:t>
            </a:r>
            <a:endParaRPr lang="en-US" sz="1200" dirty="0"/>
          </a:p>
        </p:txBody>
      </p:sp>
      <p:sp>
        <p:nvSpPr>
          <p:cNvPr id="10" name="Shape 8"/>
          <p:cNvSpPr/>
          <p:nvPr/>
        </p:nvSpPr>
        <p:spPr>
          <a:xfrm>
            <a:off x="4526280" y="2231136"/>
            <a:ext cx="256032" cy="109728"/>
          </a:xfrm>
          <a:prstGeom prst="rect">
            <a:avLst/>
          </a:prstGeom>
          <a:solidFill>
            <a:srgbClr val="00D4FF"/>
          </a:solidFill>
          <a:ln w="12700">
            <a:solidFill>
              <a:srgbClr val="00D4FF"/>
            </a:solidFill>
            <a:prstDash val="solid"/>
          </a:ln>
        </p:spPr>
        <p:txBody>
          <a:bodyPr/>
          <a:p/>
        </p:txBody>
      </p:sp>
      <p:sp>
        <p:nvSpPr>
          <p:cNvPr id="11" name="Shape 9"/>
          <p:cNvSpPr/>
          <p:nvPr/>
        </p:nvSpPr>
        <p:spPr>
          <a:xfrm>
            <a:off x="4782312" y="960120"/>
            <a:ext cx="1828800" cy="2651760"/>
          </a:xfrm>
          <a:prstGeom prst="rect">
            <a:avLst/>
          </a:prstGeom>
          <a:solidFill>
            <a:srgbClr val="7B2FBE"/>
          </a:solidFill>
          <a:ln w="12700">
            <a:solidFill>
              <a:srgbClr val="7B2FBE"/>
            </a:solidFill>
            <a:prstDash val="solid"/>
          </a:ln>
          <a:effectLst>
            <a:outerShdw sx="100000" sy="100000" kx="0" ky="0" algn="bl" rotWithShape="0" blurRad="101600" dist="38100" dir="8100000">
              <a:srgbClr val="000000">
                <a:alpha val="18000"/>
              </a:srgbClr>
            </a:outerShdw>
          </a:effectLst>
        </p:spPr>
        <p:txBody>
          <a:bodyPr/>
          <a:p/>
        </p:txBody>
      </p:sp>
      <p:sp>
        <p:nvSpPr>
          <p:cNvPr id="12" name="Text 10"/>
          <p:cNvSpPr/>
          <p:nvPr/>
        </p:nvSpPr>
        <p:spPr>
          <a:xfrm>
            <a:off x="4828032" y="1069848"/>
            <a:ext cx="1737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SOLVER</a:t>
            </a:r>
            <a:endParaRPr lang="en-US" sz="1300" dirty="0"/>
          </a:p>
        </p:txBody>
      </p:sp>
      <p:sp>
        <p:nvSpPr>
          <p:cNvPr id="13" name="Text 11"/>
          <p:cNvSpPr/>
          <p:nvPr/>
        </p:nvSpPr>
        <p:spPr>
          <a:xfrm>
            <a:off x="4855464" y="1527048"/>
            <a:ext cx="1682496" cy="1965960"/>
          </a:xfrm>
          <a:prstGeom prst="rect">
            <a:avLst/>
          </a:prstGeom>
          <a:noFill/>
          <a:ln/>
        </p:spPr>
        <p:txBody>
          <a:bodyPr wrap="square" lIns="0" tIns="0" rIns="0" bIns="0" rtlCol="0" anchor="t"/>
          <a:lstStyle/>
          <a:p>
            <a:pPr algn="ctr" indent="0" marL="0">
              <a:buNone/>
            </a:pPr>
            <a:r>
              <a:rPr lang="en-US" sz="1200" dirty="0">
                <a:solidFill>
                  <a:srgbClr val="E8E8F0"/>
                </a:solidFill>
                <a:latin typeface="Calibri" pitchFamily="34" charset="0"/>
                <a:ea typeface="Calibri" pitchFamily="34" charset="-122"/>
                <a:cs typeface="Calibri" pitchFamily="34" charset="-120"/>
              </a:rPr>
              <a:t>Winner executes</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cross-chain</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atomically</a:t>
            </a:r>
            <a:endParaRPr lang="en-US" sz="1200" dirty="0"/>
          </a:p>
        </p:txBody>
      </p:sp>
      <p:sp>
        <p:nvSpPr>
          <p:cNvPr id="14" name="Shape 12"/>
          <p:cNvSpPr/>
          <p:nvPr/>
        </p:nvSpPr>
        <p:spPr>
          <a:xfrm>
            <a:off x="6775704" y="2231136"/>
            <a:ext cx="256032" cy="109728"/>
          </a:xfrm>
          <a:prstGeom prst="rect">
            <a:avLst/>
          </a:prstGeom>
          <a:solidFill>
            <a:srgbClr val="00D4FF"/>
          </a:solidFill>
          <a:ln w="12700">
            <a:solidFill>
              <a:srgbClr val="00D4FF"/>
            </a:solidFill>
            <a:prstDash val="solid"/>
          </a:ln>
        </p:spPr>
        <p:txBody>
          <a:bodyPr/>
          <a:p/>
        </p:txBody>
      </p:sp>
      <p:sp>
        <p:nvSpPr>
          <p:cNvPr id="15" name="Shape 13"/>
          <p:cNvSpPr/>
          <p:nvPr/>
        </p:nvSpPr>
        <p:spPr>
          <a:xfrm>
            <a:off x="7031736" y="960120"/>
            <a:ext cx="1828800" cy="26517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16" name="Text 14"/>
          <p:cNvSpPr/>
          <p:nvPr/>
        </p:nvSpPr>
        <p:spPr>
          <a:xfrm>
            <a:off x="7077456" y="1069848"/>
            <a:ext cx="1737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sp>
        <p:nvSpPr>
          <p:cNvPr id="17" name="Text 15"/>
          <p:cNvSpPr/>
          <p:nvPr/>
        </p:nvSpPr>
        <p:spPr>
          <a:xfrm>
            <a:off x="7104888" y="1527048"/>
            <a:ext cx="1682496" cy="1965960"/>
          </a:xfrm>
          <a:prstGeom prst="rect">
            <a:avLst/>
          </a:prstGeom>
          <a:noFill/>
          <a:ln/>
        </p:spPr>
        <p:txBody>
          <a:bodyPr wrap="square" lIns="0" tIns="0" rIns="0" bIns="0" rtlCol="0" anchor="t"/>
          <a:lstStyle/>
          <a:p>
            <a:pPr algn="ctr" indent="0" marL="0">
              <a:buNone/>
            </a:pPr>
            <a:r>
              <a:rPr lang="en-US" sz="1200" dirty="0">
                <a:solidFill>
                  <a:srgbClr val="E8E8F0"/>
                </a:solidFill>
                <a:latin typeface="Calibri" pitchFamily="34" charset="0"/>
                <a:ea typeface="Calibri" pitchFamily="34" charset="-122"/>
                <a:cs typeface="Calibri" pitchFamily="34" charset="-120"/>
              </a:rPr>
              <a:t>Receives tokens on</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the destination chain</a:t>
            </a:r>
            <a:endParaRPr lang="en-US" sz="1200" dirty="0"/>
          </a:p>
        </p:txBody>
      </p:sp>
      <p:sp>
        <p:nvSpPr>
          <p:cNvPr id="18" name="Text 16"/>
          <p:cNvSpPr/>
          <p:nvPr/>
        </p:nvSpPr>
        <p:spPr>
          <a:xfrm>
            <a:off x="365760" y="3840480"/>
            <a:ext cx="8412480" cy="457200"/>
          </a:xfrm>
          <a:prstGeom prst="rect">
            <a:avLst/>
          </a:prstGeom>
          <a:noFill/>
          <a:ln/>
        </p:spPr>
        <p:txBody>
          <a:bodyPr wrap="square" lIns="0" tIns="0" rIns="0" bIns="0" rtlCol="0" anchor="ctr"/>
          <a:lstStyle/>
          <a:p>
            <a:pPr algn="ctr" indent="0" marL="0">
              <a:buNone/>
            </a:pPr>
            <a:r>
              <a:rPr lang="en-US" sz="1300" i="1" dirty="0">
                <a:solidFill>
                  <a:srgbClr val="8888AA"/>
                </a:solidFill>
                <a:latin typeface="Calibri" pitchFamily="34" charset="0"/>
                <a:ea typeface="Calibri" pitchFamily="34" charset="-122"/>
                <a:cs typeface="Calibri" pitchFamily="34" charset="-120"/>
              </a:rPr>
              <a:t>Solvers stake TRV (planned). Bad execution = slashing.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Technical Architecture</a:t>
            </a:r>
            <a:endParaRPr lang="en-US" sz="3200" dirty="0"/>
          </a:p>
        </p:txBody>
      </p:sp>
      <p:sp>
        <p:nvSpPr>
          <p:cNvPr id="3" name="Text 1"/>
          <p:cNvSpPr/>
          <p:nvPr/>
        </p:nvSpPr>
        <p:spPr>
          <a:xfrm>
            <a:off x="365760" y="1051560"/>
            <a:ext cx="4114800" cy="3657600"/>
          </a:xfrm>
          <a:prstGeom prst="rect">
            <a:avLst/>
          </a:prstGeom>
          <a:noFill/>
          <a:ln/>
        </p:spPr>
        <p:txBody>
          <a:bodyPr wrap="square" lIns="50800" tIns="101600" rIns="101600" bIns="50800"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EIP-712: signed, verifiable intents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Dutch Auction: descending execution auction</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Solver Registry: minimum stake (10k TRV, planned)</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Settlement: atomic cross-chain delivery</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Governor + Timelock: on-chain governance</a:t>
            </a:r>
            <a:endParaRPr lang="en-US" sz="1300" dirty="0"/>
          </a:p>
        </p:txBody>
      </p:sp>
      <p:sp>
        <p:nvSpPr>
          <p:cNvPr id="4" name="Shape 2"/>
          <p:cNvSpPr/>
          <p:nvPr/>
        </p:nvSpPr>
        <p:spPr>
          <a:xfrm>
            <a:off x="4846320" y="1005840"/>
            <a:ext cx="3931920" cy="1005840"/>
          </a:xfrm>
          <a:prstGeom prst="rect">
            <a:avLst/>
          </a:prstGeom>
          <a:solidFill>
            <a:srgbClr val="0A0E1A"/>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5" name="Text 3"/>
          <p:cNvSpPr/>
          <p:nvPr/>
        </p:nvSpPr>
        <p:spPr>
          <a:xfrm>
            <a:off x="5010912" y="1097280"/>
            <a:ext cx="3602736" cy="384048"/>
          </a:xfrm>
          <a:prstGeom prst="rect">
            <a:avLst/>
          </a:prstGeom>
          <a:noFill/>
          <a:ln/>
        </p:spPr>
        <p:txBody>
          <a:bodyPr wrap="square" lIns="0" tIns="0" rIns="0" bIns="0" rtlCol="0" anchor="ctr"/>
          <a:lstStyle/>
          <a:p>
            <a:pPr algn="l" indent="0" marL="0">
              <a:buNone/>
            </a:pPr>
            <a:r>
              <a:rPr lang="en-US" sz="1400" b="1" dirty="0">
                <a:solidFill>
                  <a:srgbClr val="00D4FF"/>
                </a:solidFill>
                <a:latin typeface="Consolas" pitchFamily="34" charset="0"/>
                <a:ea typeface="Consolas" pitchFamily="34" charset="-122"/>
                <a:cs typeface="Consolas" pitchFamily="34" charset="-120"/>
              </a:rPr>
              <a:t>TraverseRouter.sol</a:t>
            </a:r>
            <a:endParaRPr lang="en-US" sz="1400" dirty="0"/>
          </a:p>
        </p:txBody>
      </p:sp>
      <p:sp>
        <p:nvSpPr>
          <p:cNvPr id="6" name="Text 4"/>
          <p:cNvSpPr/>
          <p:nvPr/>
        </p:nvSpPr>
        <p:spPr>
          <a:xfrm>
            <a:off x="5010912" y="1527048"/>
            <a:ext cx="3602736" cy="384048"/>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Routing + Settlement</a:t>
            </a:r>
            <a:endParaRPr lang="en-US" sz="1200" dirty="0"/>
          </a:p>
        </p:txBody>
      </p:sp>
      <p:sp>
        <p:nvSpPr>
          <p:cNvPr id="7" name="Shape 5"/>
          <p:cNvSpPr/>
          <p:nvPr/>
        </p:nvSpPr>
        <p:spPr>
          <a:xfrm>
            <a:off x="4846320" y="2267712"/>
            <a:ext cx="3931920" cy="1005840"/>
          </a:xfrm>
          <a:prstGeom prst="rect">
            <a:avLst/>
          </a:prstGeom>
          <a:solidFill>
            <a:srgbClr val="0A0E1A"/>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8" name="Text 6"/>
          <p:cNvSpPr/>
          <p:nvPr/>
        </p:nvSpPr>
        <p:spPr>
          <a:xfrm>
            <a:off x="5010912" y="2359152"/>
            <a:ext cx="3602736" cy="384048"/>
          </a:xfrm>
          <a:prstGeom prst="rect">
            <a:avLst/>
          </a:prstGeom>
          <a:noFill/>
          <a:ln/>
        </p:spPr>
        <p:txBody>
          <a:bodyPr wrap="square" lIns="0" tIns="0" rIns="0" bIns="0" rtlCol="0" anchor="ctr"/>
          <a:lstStyle/>
          <a:p>
            <a:pPr algn="l" indent="0" marL="0">
              <a:buNone/>
            </a:pPr>
            <a:r>
              <a:rPr lang="en-US" sz="1400" b="1" dirty="0">
                <a:solidFill>
                  <a:srgbClr val="00D4FF"/>
                </a:solidFill>
                <a:latin typeface="Consolas" pitchFamily="34" charset="0"/>
                <a:ea typeface="Consolas" pitchFamily="34" charset="-122"/>
                <a:cs typeface="Consolas" pitchFamily="34" charset="-120"/>
              </a:rPr>
              <a:t>TraverseStaking.sol</a:t>
            </a:r>
            <a:endParaRPr lang="en-US" sz="1400" dirty="0"/>
          </a:p>
        </p:txBody>
      </p:sp>
      <p:sp>
        <p:nvSpPr>
          <p:cNvPr id="9" name="Text 7"/>
          <p:cNvSpPr/>
          <p:nvPr/>
        </p:nvSpPr>
        <p:spPr>
          <a:xfrm>
            <a:off x="5010912" y="2788920"/>
            <a:ext cx="3602736" cy="384048"/>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Solver registration</a:t>
            </a:r>
            <a:endParaRPr lang="en-US" sz="1200" dirty="0"/>
          </a:p>
        </p:txBody>
      </p:sp>
      <p:sp>
        <p:nvSpPr>
          <p:cNvPr id="10" name="Shape 8"/>
          <p:cNvSpPr/>
          <p:nvPr/>
        </p:nvSpPr>
        <p:spPr>
          <a:xfrm>
            <a:off x="4846320" y="3529584"/>
            <a:ext cx="3931920" cy="1005840"/>
          </a:xfrm>
          <a:prstGeom prst="rect">
            <a:avLst/>
          </a:prstGeom>
          <a:solidFill>
            <a:srgbClr val="0A0E1A"/>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11" name="Text 9"/>
          <p:cNvSpPr/>
          <p:nvPr/>
        </p:nvSpPr>
        <p:spPr>
          <a:xfrm>
            <a:off x="5010912" y="3621024"/>
            <a:ext cx="3602736" cy="384048"/>
          </a:xfrm>
          <a:prstGeom prst="rect">
            <a:avLst/>
          </a:prstGeom>
          <a:noFill/>
          <a:ln/>
        </p:spPr>
        <p:txBody>
          <a:bodyPr wrap="square" lIns="0" tIns="0" rIns="0" bIns="0" rtlCol="0" anchor="ctr"/>
          <a:lstStyle/>
          <a:p>
            <a:pPr algn="l" indent="0" marL="0">
              <a:buNone/>
            </a:pPr>
            <a:r>
              <a:rPr lang="en-US" sz="1400" b="1" dirty="0">
                <a:solidFill>
                  <a:srgbClr val="00D4FF"/>
                </a:solidFill>
                <a:latin typeface="Consolas" pitchFamily="34" charset="0"/>
                <a:ea typeface="Consolas" pitchFamily="34" charset="-122"/>
                <a:cs typeface="Consolas" pitchFamily="34" charset="-120"/>
              </a:rPr>
              <a:t>TraverseGovernor.sol</a:t>
            </a:r>
            <a:endParaRPr lang="en-US" sz="1400" dirty="0"/>
          </a:p>
        </p:txBody>
      </p:sp>
      <p:sp>
        <p:nvSpPr>
          <p:cNvPr id="12" name="Text 10"/>
          <p:cNvSpPr/>
          <p:nvPr/>
        </p:nvSpPr>
        <p:spPr>
          <a:xfrm>
            <a:off x="5010912" y="4050792"/>
            <a:ext cx="3602736" cy="384048"/>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On-chain governance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Why Now? Why Traverse?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8503920" cy="914400"/>
        </p:xfrm>
        <a:graphic>
          <a:graphicData uri="http://schemas.openxmlformats.org/drawingml/2006/table">
            <a:tbl>
              <a:tblPr/>
              <a:tblGrid>
                <a:gridCol w="2377440"/>
                <a:gridCol w="1234440"/>
                <a:gridCol w="1234440"/>
                <a:gridCol w="1234440"/>
                <a:gridCol w="1234440"/>
                <a:gridCol w="1234440"/>
              </a:tblGrid>
              <a:tr h="47548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Traverse</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1inch</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Jupiter</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LiFi</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CoW</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r>
              <a:tr h="475488">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Native cross-chain</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b="1" dirty="0">
                          <a:solidFill>
                            <a:srgbClr val="007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7EE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228B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r>
              <a:tr h="475488">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Solver competition</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7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7EE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8B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75488">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Intent-based</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b="1" dirty="0">
                          <a:solidFill>
                            <a:srgbClr val="007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7EE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228B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r>
              <a:tr h="475488">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Multi-chain launch</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7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7EE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Solana</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8B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475488">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TRV fee share (planned)</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b="1" dirty="0">
                          <a:solidFill>
                            <a:srgbClr val="007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C7EE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9999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365760" y="256032"/>
            <a:ext cx="841248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TRV — Planned Utility (after bridge &amp; audit)</a:t>
            </a:r>
            <a:endParaRPr lang="en-US" sz="2800" dirty="0"/>
          </a:p>
        </p:txBody>
      </p:sp>
      <p:sp>
        <p:nvSpPr>
          <p:cNvPr id="3" name="Shape 1"/>
          <p:cNvSpPr/>
          <p:nvPr/>
        </p:nvSpPr>
        <p:spPr>
          <a:xfrm>
            <a:off x="361188" y="1188720"/>
            <a:ext cx="1920240" cy="2560320"/>
          </a:xfrm>
          <a:prstGeom prst="rect">
            <a:avLst/>
          </a:prstGeom>
          <a:solidFill>
            <a:srgbClr val="FFFF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4" name="Shape 2"/>
          <p:cNvSpPr/>
          <p:nvPr/>
        </p:nvSpPr>
        <p:spPr>
          <a:xfrm>
            <a:off x="361188" y="1188720"/>
            <a:ext cx="1920240" cy="73152"/>
          </a:xfrm>
          <a:prstGeom prst="rect">
            <a:avLst/>
          </a:prstGeom>
          <a:solidFill>
            <a:srgbClr val="00D4FF"/>
          </a:solidFill>
          <a:ln w="12700">
            <a:solidFill>
              <a:srgbClr val="00D4FF"/>
            </a:solidFill>
            <a:prstDash val="solid"/>
          </a:ln>
        </p:spPr>
        <p:txBody>
          <a:bodyPr/>
          <a:p/>
        </p:txBody>
      </p:sp>
      <p:sp>
        <p:nvSpPr>
          <p:cNvPr id="5" name="Text 3"/>
          <p:cNvSpPr/>
          <p:nvPr/>
        </p:nvSpPr>
        <p:spPr>
          <a:xfrm>
            <a:off x="452628" y="1353312"/>
            <a:ext cx="1737360" cy="438912"/>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STAKING</a:t>
            </a:r>
            <a:endParaRPr lang="en-US" sz="1400" dirty="0"/>
          </a:p>
        </p:txBody>
      </p:sp>
      <p:sp>
        <p:nvSpPr>
          <p:cNvPr id="6" name="Text 4"/>
          <p:cNvSpPr/>
          <p:nvPr/>
        </p:nvSpPr>
        <p:spPr>
          <a:xfrm>
            <a:off x="452628" y="1901952"/>
            <a:ext cx="1737360" cy="1691640"/>
          </a:xfrm>
          <a:prstGeom prst="rect">
            <a:avLst/>
          </a:prstGeom>
          <a:noFill/>
          <a:ln/>
        </p:spPr>
        <p:txBody>
          <a:bodyPr wrap="square" lIns="0" tIns="0" rIns="0" bIns="0"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10k TRV minimum</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per solver</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Collateral against</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bad execution</a:t>
            </a:r>
            <a:endParaRPr lang="en-US" sz="1200" dirty="0"/>
          </a:p>
        </p:txBody>
      </p:sp>
      <p:sp>
        <p:nvSpPr>
          <p:cNvPr id="7" name="Shape 5"/>
          <p:cNvSpPr/>
          <p:nvPr/>
        </p:nvSpPr>
        <p:spPr>
          <a:xfrm>
            <a:off x="2528316" y="1188720"/>
            <a:ext cx="1920240" cy="2560320"/>
          </a:xfrm>
          <a:prstGeom prst="rect">
            <a:avLst/>
          </a:prstGeom>
          <a:solidFill>
            <a:srgbClr val="FFFF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8" name="Shape 6"/>
          <p:cNvSpPr/>
          <p:nvPr/>
        </p:nvSpPr>
        <p:spPr>
          <a:xfrm>
            <a:off x="2528316" y="1188720"/>
            <a:ext cx="1920240" cy="73152"/>
          </a:xfrm>
          <a:prstGeom prst="rect">
            <a:avLst/>
          </a:prstGeom>
          <a:solidFill>
            <a:srgbClr val="00D4FF"/>
          </a:solidFill>
          <a:ln w="12700">
            <a:solidFill>
              <a:srgbClr val="00D4FF"/>
            </a:solidFill>
            <a:prstDash val="solid"/>
          </a:ln>
        </p:spPr>
        <p:txBody>
          <a:bodyPr/>
          <a:p/>
        </p:txBody>
      </p:sp>
      <p:sp>
        <p:nvSpPr>
          <p:cNvPr id="9" name="Text 7"/>
          <p:cNvSpPr/>
          <p:nvPr/>
        </p:nvSpPr>
        <p:spPr>
          <a:xfrm>
            <a:off x="2619756" y="1353312"/>
            <a:ext cx="1737360" cy="438912"/>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GOVERNANCE</a:t>
            </a:r>
            <a:endParaRPr lang="en-US" sz="1400" dirty="0"/>
          </a:p>
        </p:txBody>
      </p:sp>
      <p:sp>
        <p:nvSpPr>
          <p:cNvPr id="10" name="Text 8"/>
          <p:cNvSpPr/>
          <p:nvPr/>
        </p:nvSpPr>
        <p:spPr>
          <a:xfrm>
            <a:off x="2619756" y="1901952"/>
            <a:ext cx="1737360" cy="1691640"/>
          </a:xfrm>
          <a:prstGeom prst="rect">
            <a:avLst/>
          </a:prstGeom>
          <a:noFill/>
          <a:ln/>
        </p:spPr>
        <p:txBody>
          <a:bodyPr wrap="square" lIns="0" tIns="0" rIns="0" bIns="0"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1 TRV = 1 vote</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Controls fees,</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parameters,</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treasury</a:t>
            </a:r>
            <a:endParaRPr lang="en-US" sz="1200" dirty="0"/>
          </a:p>
        </p:txBody>
      </p:sp>
      <p:sp>
        <p:nvSpPr>
          <p:cNvPr id="11" name="Shape 9"/>
          <p:cNvSpPr/>
          <p:nvPr/>
        </p:nvSpPr>
        <p:spPr>
          <a:xfrm>
            <a:off x="4695444" y="1188720"/>
            <a:ext cx="1920240" cy="2560320"/>
          </a:xfrm>
          <a:prstGeom prst="rect">
            <a:avLst/>
          </a:prstGeom>
          <a:solidFill>
            <a:srgbClr val="FFFF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12" name="Shape 10"/>
          <p:cNvSpPr/>
          <p:nvPr/>
        </p:nvSpPr>
        <p:spPr>
          <a:xfrm>
            <a:off x="4695444" y="1188720"/>
            <a:ext cx="1920240" cy="73152"/>
          </a:xfrm>
          <a:prstGeom prst="rect">
            <a:avLst/>
          </a:prstGeom>
          <a:solidFill>
            <a:srgbClr val="00D4FF"/>
          </a:solidFill>
          <a:ln w="12700">
            <a:solidFill>
              <a:srgbClr val="00D4FF"/>
            </a:solidFill>
            <a:prstDash val="solid"/>
          </a:ln>
        </p:spPr>
        <p:txBody>
          <a:bodyPr/>
          <a:p/>
        </p:txBody>
      </p:sp>
      <p:sp>
        <p:nvSpPr>
          <p:cNvPr id="13" name="Text 11"/>
          <p:cNvSpPr/>
          <p:nvPr/>
        </p:nvSpPr>
        <p:spPr>
          <a:xfrm>
            <a:off x="4786884" y="1353312"/>
            <a:ext cx="1737360" cy="438912"/>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DISCOUNT</a:t>
            </a:r>
            <a:endParaRPr lang="en-US" sz="1400" dirty="0"/>
          </a:p>
        </p:txBody>
      </p:sp>
      <p:sp>
        <p:nvSpPr>
          <p:cNvPr id="14" name="Text 12"/>
          <p:cNvSpPr/>
          <p:nvPr/>
        </p:nvSpPr>
        <p:spPr>
          <a:xfrm>
            <a:off x="4786884" y="1901952"/>
            <a:ext cx="1737360" cy="1691640"/>
          </a:xfrm>
          <a:prstGeom prst="rect">
            <a:avLst/>
          </a:prstGeom>
          <a:noFill/>
          <a:ln/>
        </p:spPr>
        <p:txBody>
          <a:bodyPr wrap="square" lIns="0" tIns="0" rIns="0" bIns="0"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Up to 50% off</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routing fees</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Tiers by</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amount held</a:t>
            </a:r>
            <a:endParaRPr lang="en-US" sz="1200" dirty="0"/>
          </a:p>
        </p:txBody>
      </p:sp>
      <p:sp>
        <p:nvSpPr>
          <p:cNvPr id="15" name="Shape 13"/>
          <p:cNvSpPr/>
          <p:nvPr/>
        </p:nvSpPr>
        <p:spPr>
          <a:xfrm>
            <a:off x="6862572" y="1188720"/>
            <a:ext cx="1920240" cy="2560320"/>
          </a:xfrm>
          <a:prstGeom prst="rect">
            <a:avLst/>
          </a:prstGeom>
          <a:solidFill>
            <a:srgbClr val="FFFF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16" name="Shape 14"/>
          <p:cNvSpPr/>
          <p:nvPr/>
        </p:nvSpPr>
        <p:spPr>
          <a:xfrm>
            <a:off x="6862572" y="1188720"/>
            <a:ext cx="1920240" cy="73152"/>
          </a:xfrm>
          <a:prstGeom prst="rect">
            <a:avLst/>
          </a:prstGeom>
          <a:solidFill>
            <a:srgbClr val="00D4FF"/>
          </a:solidFill>
          <a:ln w="12700">
            <a:solidFill>
              <a:srgbClr val="00D4FF"/>
            </a:solidFill>
            <a:prstDash val="solid"/>
          </a:ln>
        </p:spPr>
        <p:txBody>
          <a:bodyPr/>
          <a:p/>
        </p:txBody>
      </p:sp>
      <p:sp>
        <p:nvSpPr>
          <p:cNvPr id="17" name="Text 15"/>
          <p:cNvSpPr/>
          <p:nvPr/>
        </p:nvSpPr>
        <p:spPr>
          <a:xfrm>
            <a:off x="6954012" y="1353312"/>
            <a:ext cx="1737360" cy="438912"/>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FEE SHARE</a:t>
            </a:r>
            <a:endParaRPr lang="en-US" sz="1400" dirty="0"/>
          </a:p>
        </p:txBody>
      </p:sp>
      <p:sp>
        <p:nvSpPr>
          <p:cNvPr id="18" name="Text 16"/>
          <p:cNvSpPr/>
          <p:nvPr/>
        </p:nvSpPr>
        <p:spPr>
          <a:xfrm>
            <a:off x="6954012" y="1901952"/>
            <a:ext cx="1737360" cy="1691640"/>
          </a:xfrm>
          <a:prstGeom prst="rect">
            <a:avLst/>
          </a:prstGeom>
          <a:noFill/>
          <a:ln/>
        </p:spPr>
        <p:txBody>
          <a:bodyPr wrap="square" lIns="0" tIns="0" rIns="0" bIns="0"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70% of fees</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to stakers (proposed)</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Subject to legal</a:t>
            </a:r>
            <a:endParaRPr lang="en-US" sz="1200" dirty="0"/>
          </a:p>
          <a:p>
            <a:pPr algn="ctr" indent="0" marL="0">
              <a:buNone/>
            </a:pPr>
            <a:r>
              <a:rPr lang="en-US" sz="1200" dirty="0">
                <a:solidFill>
                  <a:srgbClr val="1A1A2E"/>
                </a:solidFill>
                <a:latin typeface="Calibri" pitchFamily="34" charset="0"/>
                <a:ea typeface="Calibri" pitchFamily="34" charset="-122"/>
                <a:cs typeface="Calibri" pitchFamily="34" charset="-120"/>
              </a:rPr>
              <a:t>review &amp; governance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Supply — 1 Billion TRV, Fair Launch</a:t>
            </a:r>
            <a:endParaRPr lang="en-US" sz="3200" dirty="0"/>
          </a:p>
        </p:txBody>
      </p:sp>
      <p:graphicFrame>
        <p:nvGraphicFramePr>
          <p:cNvPr id="3" name="Chart 0" descr=""/>
          <p:cNvGraphicFramePr/>
          <p:nvPr/>
        </p:nvGraphicFramePr>
        <p:xfrm>
          <a:off x="274320" y="914400"/>
          <a:ext cx="5029200" cy="39319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577840" y="1371600"/>
            <a:ext cx="3200400" cy="658368"/>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5" name="Text 2"/>
          <p:cNvSpPr/>
          <p:nvPr/>
        </p:nvSpPr>
        <p:spPr>
          <a:xfrm>
            <a:off x="5669280" y="1408176"/>
            <a:ext cx="3017520" cy="585216"/>
          </a:xfrm>
          <a:prstGeom prst="rect">
            <a:avLst/>
          </a:prstGeom>
          <a:noFill/>
          <a:ln/>
        </p:spPr>
        <p:txBody>
          <a:bodyPr wrap="square" lIns="0" tIns="76200" rIns="7620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Fixed supply: 1B TRV, mint authority revoked</a:t>
            </a:r>
            <a:endParaRPr lang="en-US" sz="1300" dirty="0"/>
          </a:p>
        </p:txBody>
      </p:sp>
      <p:sp>
        <p:nvSpPr>
          <p:cNvPr id="6" name="Shape 3"/>
          <p:cNvSpPr/>
          <p:nvPr/>
        </p:nvSpPr>
        <p:spPr>
          <a:xfrm>
            <a:off x="5577840" y="2286000"/>
            <a:ext cx="3200400" cy="658368"/>
          </a:xfrm>
          <a:prstGeom prst="rect">
            <a:avLst/>
          </a:prstGeom>
          <a:solidFill>
            <a:srgbClr val="7B2FBE"/>
          </a:solidFill>
          <a:ln w="12700">
            <a:solidFill>
              <a:srgbClr val="7B2FBE"/>
            </a:solidFill>
            <a:prstDash val="solid"/>
          </a:ln>
          <a:effectLst>
            <a:outerShdw sx="100000" sy="100000" kx="0" ky="0" algn="bl" rotWithShape="0" blurRad="101600" dist="38100" dir="8100000">
              <a:srgbClr val="000000">
                <a:alpha val="18000"/>
              </a:srgbClr>
            </a:outerShdw>
          </a:effectLst>
        </p:spPr>
        <p:txBody>
          <a:bodyPr/>
          <a:p/>
        </p:txBody>
      </p:sp>
      <p:sp>
        <p:nvSpPr>
          <p:cNvPr id="7" name="Text 4"/>
          <p:cNvSpPr/>
          <p:nvPr/>
        </p:nvSpPr>
        <p:spPr>
          <a:xfrm>
            <a:off x="5669280" y="2322576"/>
            <a:ext cx="3017520" cy="585216"/>
          </a:xfrm>
          <a:prstGeom prst="rect">
            <a:avLst/>
          </a:prstGeom>
          <a:noFill/>
          <a:ln/>
        </p:spPr>
        <p:txBody>
          <a:bodyPr wrap="square" lIns="0" tIns="76200" rIns="7620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Team: 0% pre-allocated. Creator bought ~0.62% on the open curve (disclosed)</a:t>
            </a:r>
            <a:endParaRPr lang="en-US" sz="1300" dirty="0"/>
          </a:p>
        </p:txBody>
      </p:sp>
      <p:sp>
        <p:nvSpPr>
          <p:cNvPr id="8" name="Shape 5"/>
          <p:cNvSpPr/>
          <p:nvPr/>
        </p:nvSpPr>
        <p:spPr>
          <a:xfrm>
            <a:off x="5577840" y="3200400"/>
            <a:ext cx="3200400" cy="658368"/>
          </a:xfrm>
          <a:prstGeom prst="rect">
            <a:avLst/>
          </a:prstGeom>
          <a:solidFill>
            <a:srgbClr val="00A896"/>
          </a:solidFill>
          <a:ln w="12700">
            <a:solidFill>
              <a:srgbClr val="00A896"/>
            </a:solidFill>
            <a:prstDash val="solid"/>
          </a:ln>
          <a:effectLst>
            <a:outerShdw sx="100000" sy="100000" kx="0" ky="0" algn="bl" rotWithShape="0" blurRad="101600" dist="38100" dir="8100000">
              <a:srgbClr val="000000">
                <a:alpha val="18000"/>
              </a:srgbClr>
            </a:outerShdw>
          </a:effectLst>
        </p:spPr>
        <p:txBody>
          <a:bodyPr/>
          <a:p/>
        </p:txBody>
      </p:sp>
      <p:sp>
        <p:nvSpPr>
          <p:cNvPr id="9" name="Text 6"/>
          <p:cNvSpPr/>
          <p:nvPr/>
        </p:nvSpPr>
        <p:spPr>
          <a:xfrm>
            <a:off x="5669280" y="3236976"/>
            <a:ext cx="3017520" cy="585216"/>
          </a:xfrm>
          <a:prstGeom prst="rect">
            <a:avLst/>
          </a:prstGeom>
          <a:noFill/>
          <a:ln/>
        </p:spPr>
        <p:txBody>
          <a:bodyPr wrap="square" lIns="0" tIns="76200" rIns="7620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CA: AqYxQFndwosnbXeQXXnqyJUw471YddxbZqkwosDvpump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02920"/>
          </a:xfrm>
          <a:prstGeom prst="rect">
            <a:avLst/>
          </a:prstGeom>
          <a:noFill/>
          <a:ln/>
        </p:spPr>
        <p:txBody>
          <a:bodyPr wrap="square" lIns="0" tIns="0" rIns="0" bIns="0" rtlCol="0" anchor="ctr"/>
          <a:lstStyle/>
          <a:p>
            <a:pPr algn="l" indent="0" marL="0">
              <a:buNone/>
            </a:pPr>
            <a:r>
              <a:rPr lang="en-US" sz="3000" b="1" dirty="0">
                <a:solidFill>
                  <a:srgbClr val="1E2761"/>
                </a:solidFill>
                <a:latin typeface="Georgia" pitchFamily="34" charset="0"/>
                <a:ea typeface="Georgia" pitchFamily="34" charset="-122"/>
                <a:cs typeface="Georgia" pitchFamily="34" charset="-120"/>
              </a:rPr>
              <a:t>Fee Model (Illustrative)</a:t>
            </a:r>
            <a:endParaRPr lang="en-US" sz="3000" dirty="0"/>
          </a:p>
        </p:txBody>
      </p:sp>
      <p:graphicFrame>
        <p:nvGraphicFramePr>
          <p:cNvPr id="3" name="Chart 0" descr=""/>
          <p:cNvGraphicFramePr/>
          <p:nvPr/>
        </p:nvGraphicFramePr>
        <p:xfrm>
          <a:off x="274320" y="777240"/>
          <a:ext cx="530352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3474720"/>
          <a:ext cx="8595360" cy="914400"/>
        </p:xfrm>
        <a:graphic>
          <a:graphicData uri="http://schemas.openxmlformats.org/drawingml/2006/table">
            <a:tbl>
              <a:tblPr/>
              <a:tblGrid>
                <a:gridCol w="1719072"/>
                <a:gridCol w="1719072"/>
                <a:gridCol w="1719072"/>
                <a:gridCol w="1719072"/>
                <a:gridCol w="1719072"/>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Volume/mo</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Fee (0.05%)</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Treasury (20%)</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Stakers (70%)*</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r>
              <a:tr h="34747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Conservative</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0FA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$50M</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0FA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$25K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0FA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$5K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0FA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$17.5K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0FAFF"/>
                    </a:solidFill>
                  </a:tcPr>
                </a:tc>
              </a:tr>
              <a:tr h="34747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$500M</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$250K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$50K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$175K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r>
              <a:tr h="347472">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Optimistic</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F4"/>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$2B</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F4"/>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$1M</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F4"/>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$200K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F4"/>
                    </a:solidFill>
                  </a:tcPr>
                </a:tc>
                <a:tc>
                  <a:txBody>
                    <a:bodyPr/>
                    <a:lstStyle/>
                    <a:p>
                      <a:pPr algn="ctr" indent="0" marL="0">
                        <a:buNone/>
                      </a:pPr>
                      <a:r>
                        <a:rPr lang="en-US" sz="1200" dirty="0">
                          <a:solidFill>
                            <a:srgbClr val="1A1A2E"/>
                          </a:solidFill>
                          <a:latin typeface="Calibri" pitchFamily="34" charset="0"/>
                          <a:ea typeface="Calibri" pitchFamily="34" charset="-122"/>
                          <a:cs typeface="Calibri" pitchFamily="34" charset="-120"/>
                        </a:rPr>
                        <a:t>$700K</a:t>
                      </a:r>
                      <a:endParaRPr lang="en-US" sz="1200" dirty="0">
                        <a:latin typeface="Calibri" charset="0"/>
                        <a:ea typeface="Calibri" charset="0"/>
                        <a:cs typeface="Calibri"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F4"/>
                    </a:solidFill>
                  </a:tcPr>
                </a:tc>
              </a:tr>
            </a:tbl>
          </a:graphicData>
        </a:graphic>
      </p:graphicFrame>
      <p:sp>
        <p:nvSpPr>
          <p:cNvPr id="5" name="Text 1"/>
          <p:cNvSpPr/>
          <p:nvPr/>
        </p:nvSpPr>
        <p:spPr>
          <a:xfrm>
            <a:off x="365760" y="4846320"/>
            <a:ext cx="8412480" cy="256032"/>
          </a:xfrm>
          <a:prstGeom prst="rect">
            <a:avLst/>
          </a:prstGeom>
          <a:noFill/>
          <a:ln/>
        </p:spPr>
        <p:txBody>
          <a:bodyPr wrap="square" lIns="0" tIns="0" rIns="0" bIns="0" rtlCol="0" anchor="ctr"/>
          <a:lstStyle/>
          <a:p>
            <a:pPr algn="ctr" indent="0" marL="0">
              <a:buNone/>
            </a:pPr>
            <a:r>
              <a:rPr lang="en-US" sz="1000" i="1" dirty="0">
                <a:solidFill>
                  <a:srgbClr val="8888AA"/>
                </a:solidFill>
                <a:latin typeface="Calibri" pitchFamily="34" charset="0"/>
                <a:ea typeface="Calibri" pitchFamily="34" charset="-122"/>
                <a:cs typeface="Calibri" pitchFamily="34" charset="-120"/>
              </a:rPr>
              <a:t>Illustrative only. Fee distribution is a proposal, subject to legal review and governance. Not a promise of returns.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Roadmap 2026–2027</a:t>
            </a:r>
            <a:endParaRPr lang="en-US" sz="3200" dirty="0"/>
          </a:p>
        </p:txBody>
      </p:sp>
      <p:sp>
        <p:nvSpPr>
          <p:cNvPr id="3" name="Shape 1"/>
          <p:cNvSpPr/>
          <p:nvPr/>
        </p:nvSpPr>
        <p:spPr>
          <a:xfrm>
            <a:off x="457200" y="2423160"/>
            <a:ext cx="8229600" cy="54864"/>
          </a:xfrm>
          <a:prstGeom prst="rect">
            <a:avLst/>
          </a:prstGeom>
          <a:solidFill>
            <a:srgbClr val="DDDDDD"/>
          </a:solidFill>
          <a:ln w="12700">
            <a:solidFill>
              <a:srgbClr val="DDDDDD"/>
            </a:solidFill>
            <a:prstDash val="solid"/>
          </a:ln>
        </p:spPr>
        <p:txBody>
          <a:bodyPr/>
          <a:p/>
        </p:txBody>
      </p:sp>
      <p:sp>
        <p:nvSpPr>
          <p:cNvPr id="4" name="Shape 2"/>
          <p:cNvSpPr/>
          <p:nvPr/>
        </p:nvSpPr>
        <p:spPr>
          <a:xfrm>
            <a:off x="434340" y="1188720"/>
            <a:ext cx="1828800" cy="26517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5" name="Shape 3"/>
          <p:cNvSpPr/>
          <p:nvPr/>
        </p:nvSpPr>
        <p:spPr>
          <a:xfrm>
            <a:off x="1211580" y="2304288"/>
            <a:ext cx="274320" cy="274320"/>
          </a:xfrm>
          <a:prstGeom prst="ellipse">
            <a:avLst/>
          </a:prstGeom>
          <a:solidFill>
            <a:srgbClr val="1E2761"/>
          </a:solidFill>
          <a:ln w="12700">
            <a:solidFill>
              <a:srgbClr val="1E2761"/>
            </a:solidFill>
            <a:prstDash val="solid"/>
          </a:ln>
        </p:spPr>
        <p:txBody>
          <a:bodyPr/>
          <a:p/>
        </p:txBody>
      </p:sp>
      <p:sp>
        <p:nvSpPr>
          <p:cNvPr id="6" name="Text 4"/>
          <p:cNvSpPr/>
          <p:nvPr/>
        </p:nvSpPr>
        <p:spPr>
          <a:xfrm>
            <a:off x="507492" y="1298448"/>
            <a:ext cx="1682496"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Q4 2026</a:t>
            </a:r>
            <a:endParaRPr lang="en-US" sz="1300" dirty="0"/>
          </a:p>
        </p:txBody>
      </p:sp>
      <p:sp>
        <p:nvSpPr>
          <p:cNvPr id="7" name="Text 5"/>
          <p:cNvSpPr/>
          <p:nvPr/>
        </p:nvSpPr>
        <p:spPr>
          <a:xfrm>
            <a:off x="507492" y="1783080"/>
            <a:ext cx="1682496" cy="1920240"/>
          </a:xfrm>
          <a:prstGeom prst="rect">
            <a:avLst/>
          </a:prstGeom>
          <a:noFill/>
          <a:ln/>
        </p:spPr>
        <p:txBody>
          <a:bodyPr wrap="square" lIns="0" tIns="0" rIns="0" bIns="0" rtlCol="0" anchor="t"/>
          <a:lstStyle/>
          <a:p>
            <a:pPr algn="ctr" indent="0" marL="0">
              <a:buNone/>
            </a:pPr>
            <a:r>
              <a:rPr lang="en-US" sz="1200" dirty="0">
                <a:solidFill>
                  <a:srgbClr val="E8E8F0"/>
                </a:solidFill>
                <a:latin typeface="Calibri" pitchFamily="34" charset="0"/>
                <a:ea typeface="Calibri" pitchFamily="34" charset="-122"/>
                <a:cs typeface="Calibri" pitchFamily="34" charset="-120"/>
              </a:rPr>
              <a:t>TRV fair launch ✓</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Base Sepolia testnet</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Solver reference bot</a:t>
            </a:r>
            <a:endParaRPr lang="en-US" sz="1200" dirty="0"/>
          </a:p>
        </p:txBody>
      </p:sp>
      <p:sp>
        <p:nvSpPr>
          <p:cNvPr id="8" name="Shape 6"/>
          <p:cNvSpPr/>
          <p:nvPr/>
        </p:nvSpPr>
        <p:spPr>
          <a:xfrm>
            <a:off x="2583180" y="1188720"/>
            <a:ext cx="1828800" cy="2651760"/>
          </a:xfrm>
          <a:prstGeom prst="rect">
            <a:avLst/>
          </a:prstGeom>
          <a:solidFill>
            <a:srgbClr val="00D4FF"/>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9" name="Shape 7"/>
          <p:cNvSpPr/>
          <p:nvPr/>
        </p:nvSpPr>
        <p:spPr>
          <a:xfrm>
            <a:off x="3360420" y="2304288"/>
            <a:ext cx="274320" cy="274320"/>
          </a:xfrm>
          <a:prstGeom prst="ellipse">
            <a:avLst/>
          </a:prstGeom>
          <a:solidFill>
            <a:srgbClr val="00D4FF"/>
          </a:solidFill>
          <a:ln w="12700">
            <a:solidFill>
              <a:srgbClr val="00D4FF"/>
            </a:solidFill>
            <a:prstDash val="solid"/>
          </a:ln>
        </p:spPr>
        <p:txBody>
          <a:bodyPr/>
          <a:p/>
        </p:txBody>
      </p:sp>
      <p:sp>
        <p:nvSpPr>
          <p:cNvPr id="10" name="Text 8"/>
          <p:cNvSpPr/>
          <p:nvPr/>
        </p:nvSpPr>
        <p:spPr>
          <a:xfrm>
            <a:off x="2656332" y="1298448"/>
            <a:ext cx="1682496" cy="384048"/>
          </a:xfrm>
          <a:prstGeom prst="rect">
            <a:avLst/>
          </a:prstGeom>
          <a:noFill/>
          <a:ln/>
        </p:spPr>
        <p:txBody>
          <a:bodyPr wrap="square" lIns="0" tIns="0" rIns="0" bIns="0" rtlCol="0" anchor="ctr"/>
          <a:lstStyle/>
          <a:p>
            <a:pPr algn="ctr" indent="0" marL="0">
              <a:buNone/>
            </a:pPr>
            <a:r>
              <a:rPr lang="en-US" sz="1300" b="1" dirty="0">
                <a:solidFill>
                  <a:srgbClr val="1E2761"/>
                </a:solidFill>
                <a:latin typeface="Georgia" pitchFamily="34" charset="0"/>
                <a:ea typeface="Georgia" pitchFamily="34" charset="-122"/>
                <a:cs typeface="Georgia" pitchFamily="34" charset="-120"/>
              </a:rPr>
              <a:t>Q1 2027</a:t>
            </a:r>
            <a:endParaRPr lang="en-US" sz="1300" dirty="0"/>
          </a:p>
        </p:txBody>
      </p:sp>
      <p:sp>
        <p:nvSpPr>
          <p:cNvPr id="11" name="Text 9"/>
          <p:cNvSpPr/>
          <p:nvPr/>
        </p:nvSpPr>
        <p:spPr>
          <a:xfrm>
            <a:off x="2656332" y="1783080"/>
            <a:ext cx="1682496" cy="1920240"/>
          </a:xfrm>
          <a:prstGeom prst="rect">
            <a:avLst/>
          </a:prstGeom>
          <a:noFill/>
          <a:ln/>
        </p:spPr>
        <p:txBody>
          <a:bodyPr wrap="square" lIns="0" tIns="0" rIns="0" bIns="0" rtlCol="0" anchor="t"/>
          <a:lstStyle/>
          <a:p>
            <a:pPr algn="ctr" indent="0" marL="0">
              <a:buNone/>
            </a:pPr>
            <a:r>
              <a:rPr lang="en-US" sz="1200" dirty="0">
                <a:solidFill>
                  <a:srgbClr val="1E2761"/>
                </a:solidFill>
                <a:latin typeface="Calibri" pitchFamily="34" charset="0"/>
                <a:ea typeface="Calibri" pitchFamily="34" charset="-122"/>
                <a:cs typeface="Calibri" pitchFamily="34" charset="-120"/>
              </a:rPr>
              <a:t>Bridge design</a:t>
            </a:r>
            <a:endParaRPr lang="en-US" sz="1200" dirty="0"/>
          </a:p>
          <a:p>
            <a:pPr algn="ctr" indent="0" marL="0">
              <a:buNone/>
            </a:pPr>
            <a:r>
              <a:rPr lang="en-US" sz="1200" dirty="0">
                <a:solidFill>
                  <a:srgbClr val="1E2761"/>
                </a:solidFill>
                <a:latin typeface="Calibri" pitchFamily="34" charset="0"/>
                <a:ea typeface="Calibri" pitchFamily="34" charset="-122"/>
                <a:cs typeface="Calibri" pitchFamily="34" charset="-120"/>
              </a:rPr>
              <a:t>Testnet + test TRV</a:t>
            </a:r>
            <a:endParaRPr lang="en-US" sz="1200" dirty="0"/>
          </a:p>
          <a:p>
            <a:pPr algn="ctr" indent="0" marL="0">
              <a:buNone/>
            </a:pPr>
            <a:r>
              <a:rPr lang="en-US" sz="1200" dirty="0">
                <a:solidFill>
                  <a:srgbClr val="1E2761"/>
                </a:solidFill>
                <a:latin typeface="Calibri" pitchFamily="34" charset="0"/>
                <a:ea typeface="Calibri" pitchFamily="34" charset="-122"/>
                <a:cs typeface="Calibri" pitchFamily="34" charset="-120"/>
              </a:rPr>
              <a:t>Audit scoping</a:t>
            </a:r>
            <a:endParaRPr lang="en-US" sz="1200" dirty="0"/>
          </a:p>
        </p:txBody>
      </p:sp>
      <p:sp>
        <p:nvSpPr>
          <p:cNvPr id="12" name="Shape 10"/>
          <p:cNvSpPr/>
          <p:nvPr/>
        </p:nvSpPr>
        <p:spPr>
          <a:xfrm>
            <a:off x="4732020" y="1188720"/>
            <a:ext cx="1828800" cy="2651760"/>
          </a:xfrm>
          <a:prstGeom prst="rect">
            <a:avLst/>
          </a:prstGeom>
          <a:solidFill>
            <a:srgbClr val="7B2FBE"/>
          </a:solidFill>
          <a:ln w="12700">
            <a:solidFill>
              <a:srgbClr val="7B2FBE"/>
            </a:solidFill>
            <a:prstDash val="solid"/>
          </a:ln>
          <a:effectLst>
            <a:outerShdw sx="100000" sy="100000" kx="0" ky="0" algn="bl" rotWithShape="0" blurRad="101600" dist="38100" dir="8100000">
              <a:srgbClr val="000000">
                <a:alpha val="18000"/>
              </a:srgbClr>
            </a:outerShdw>
          </a:effectLst>
        </p:spPr>
        <p:txBody>
          <a:bodyPr/>
          <a:p/>
        </p:txBody>
      </p:sp>
      <p:sp>
        <p:nvSpPr>
          <p:cNvPr id="13" name="Shape 11"/>
          <p:cNvSpPr/>
          <p:nvPr/>
        </p:nvSpPr>
        <p:spPr>
          <a:xfrm>
            <a:off x="5509260" y="2304288"/>
            <a:ext cx="274320" cy="274320"/>
          </a:xfrm>
          <a:prstGeom prst="ellipse">
            <a:avLst/>
          </a:prstGeom>
          <a:solidFill>
            <a:srgbClr val="7B2FBE"/>
          </a:solidFill>
          <a:ln w="12700">
            <a:solidFill>
              <a:srgbClr val="7B2FBE"/>
            </a:solidFill>
            <a:prstDash val="solid"/>
          </a:ln>
        </p:spPr>
        <p:txBody>
          <a:bodyPr/>
          <a:p/>
        </p:txBody>
      </p:sp>
      <p:sp>
        <p:nvSpPr>
          <p:cNvPr id="14" name="Text 12"/>
          <p:cNvSpPr/>
          <p:nvPr/>
        </p:nvSpPr>
        <p:spPr>
          <a:xfrm>
            <a:off x="4805172" y="1298448"/>
            <a:ext cx="1682496"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Q2 2027</a:t>
            </a:r>
            <a:endParaRPr lang="en-US" sz="1300" dirty="0"/>
          </a:p>
        </p:txBody>
      </p:sp>
      <p:sp>
        <p:nvSpPr>
          <p:cNvPr id="15" name="Text 13"/>
          <p:cNvSpPr/>
          <p:nvPr/>
        </p:nvSpPr>
        <p:spPr>
          <a:xfrm>
            <a:off x="4805172" y="1783080"/>
            <a:ext cx="1682496" cy="1920240"/>
          </a:xfrm>
          <a:prstGeom prst="rect">
            <a:avLst/>
          </a:prstGeom>
          <a:noFill/>
          <a:ln/>
        </p:spPr>
        <p:txBody>
          <a:bodyPr wrap="square" lIns="0" tIns="0" rIns="0" bIns="0" rtlCol="0" anchor="t"/>
          <a:lstStyle/>
          <a:p>
            <a:pPr algn="ctr" indent="0" marL="0">
              <a:buNone/>
            </a:pPr>
            <a:r>
              <a:rPr lang="en-US" sz="1200" dirty="0">
                <a:solidFill>
                  <a:srgbClr val="E8E8F0"/>
                </a:solidFill>
                <a:latin typeface="Calibri" pitchFamily="34" charset="0"/>
                <a:ea typeface="Calibri" pitchFamily="34" charset="-122"/>
                <a:cs typeface="Calibri" pitchFamily="34" charset="-120"/>
              </a:rPr>
              <a:t>Independent audit</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Bug bounty</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TRV bridged to Base</a:t>
            </a:r>
            <a:endParaRPr lang="en-US" sz="1200" dirty="0"/>
          </a:p>
        </p:txBody>
      </p:sp>
      <p:sp>
        <p:nvSpPr>
          <p:cNvPr id="16" name="Shape 14"/>
          <p:cNvSpPr/>
          <p:nvPr/>
        </p:nvSpPr>
        <p:spPr>
          <a:xfrm>
            <a:off x="6880860" y="1188720"/>
            <a:ext cx="1828800" cy="265176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17" name="Shape 15"/>
          <p:cNvSpPr/>
          <p:nvPr/>
        </p:nvSpPr>
        <p:spPr>
          <a:xfrm>
            <a:off x="7658100" y="2304288"/>
            <a:ext cx="274320" cy="274320"/>
          </a:xfrm>
          <a:prstGeom prst="ellipse">
            <a:avLst/>
          </a:prstGeom>
          <a:solidFill>
            <a:srgbClr val="1E2761"/>
          </a:solidFill>
          <a:ln w="12700">
            <a:solidFill>
              <a:srgbClr val="1E2761"/>
            </a:solidFill>
            <a:prstDash val="solid"/>
          </a:ln>
        </p:spPr>
        <p:txBody>
          <a:bodyPr/>
          <a:p/>
        </p:txBody>
      </p:sp>
      <p:sp>
        <p:nvSpPr>
          <p:cNvPr id="18" name="Text 16"/>
          <p:cNvSpPr/>
          <p:nvPr/>
        </p:nvSpPr>
        <p:spPr>
          <a:xfrm>
            <a:off x="6954012" y="1298448"/>
            <a:ext cx="1682496"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H2 2027</a:t>
            </a:r>
            <a:endParaRPr lang="en-US" sz="1300" dirty="0"/>
          </a:p>
        </p:txBody>
      </p:sp>
      <p:sp>
        <p:nvSpPr>
          <p:cNvPr id="19" name="Text 17"/>
          <p:cNvSpPr/>
          <p:nvPr/>
        </p:nvSpPr>
        <p:spPr>
          <a:xfrm>
            <a:off x="6954012" y="1783080"/>
            <a:ext cx="1682496" cy="1920240"/>
          </a:xfrm>
          <a:prstGeom prst="rect">
            <a:avLst/>
          </a:prstGeom>
          <a:noFill/>
          <a:ln/>
        </p:spPr>
        <p:txBody>
          <a:bodyPr wrap="square" lIns="0" tIns="0" rIns="0" bIns="0" rtlCol="0" anchor="t"/>
          <a:lstStyle/>
          <a:p>
            <a:pPr algn="ctr" indent="0" marL="0">
              <a:buNone/>
            </a:pPr>
            <a:r>
              <a:rPr lang="en-US" sz="1200" dirty="0">
                <a:solidFill>
                  <a:srgbClr val="E8E8F0"/>
                </a:solidFill>
                <a:latin typeface="Calibri" pitchFamily="34" charset="0"/>
                <a:ea typeface="Calibri" pitchFamily="34" charset="-122"/>
                <a:cs typeface="Calibri" pitchFamily="34" charset="-120"/>
              </a:rPr>
              <a:t>Mainnet beta (Base)</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Staking + governance</a:t>
            </a:r>
            <a:endParaRPr lang="en-US" sz="1200" dirty="0"/>
          </a:p>
          <a:p>
            <a:pPr algn="ctr" indent="0" marL="0">
              <a:buNone/>
            </a:pPr>
            <a:r>
              <a:rPr lang="en-US" sz="1200" dirty="0">
                <a:solidFill>
                  <a:srgbClr val="E8E8F0"/>
                </a:solidFill>
                <a:latin typeface="Calibri" pitchFamily="34" charset="0"/>
                <a:ea typeface="Calibri" pitchFamily="34" charset="-122"/>
                <a:cs typeface="Calibri" pitchFamily="34" charset="-120"/>
              </a:rPr>
              <a:t>Solver SDK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Security Is Not Optional</a:t>
            </a:r>
            <a:endParaRPr lang="en-US" sz="3200" dirty="0"/>
          </a:p>
        </p:txBody>
      </p:sp>
      <p:sp>
        <p:nvSpPr>
          <p:cNvPr id="3" name="Shape 1"/>
          <p:cNvSpPr/>
          <p:nvPr/>
        </p:nvSpPr>
        <p:spPr>
          <a:xfrm>
            <a:off x="365760" y="1051560"/>
            <a:ext cx="502920" cy="502920"/>
          </a:xfrm>
          <a:prstGeom prst="ellipse">
            <a:avLst/>
          </a:prstGeom>
          <a:solidFill>
            <a:srgbClr val="1E2761"/>
          </a:solidFill>
          <a:ln w="12700">
            <a:solidFill>
              <a:srgbClr val="1E2761"/>
            </a:solidFill>
            <a:prstDash val="solid"/>
          </a:ln>
        </p:spPr>
        <p:txBody>
          <a:bodyPr/>
          <a:p/>
        </p:txBody>
      </p:sp>
      <p:sp>
        <p:nvSpPr>
          <p:cNvPr id="4" name="Text 2"/>
          <p:cNvSpPr/>
          <p:nvPr/>
        </p:nvSpPr>
        <p:spPr>
          <a:xfrm>
            <a:off x="365760" y="105156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5" name="Shape 3"/>
          <p:cNvSpPr/>
          <p:nvPr/>
        </p:nvSpPr>
        <p:spPr>
          <a:xfrm>
            <a:off x="1005840" y="1051560"/>
            <a:ext cx="7772400" cy="502920"/>
          </a:xfrm>
          <a:prstGeom prst="rect">
            <a:avLst/>
          </a:prstGeom>
          <a:solidFill>
            <a:srgbClr val="F0F4FF"/>
          </a:solidFill>
          <a:ln w="12700">
            <a:solidFill>
              <a:srgbClr val="E0E8FF"/>
            </a:solidFill>
            <a:prstDash val="solid"/>
          </a:ln>
        </p:spPr>
        <p:txBody>
          <a:bodyPr/>
          <a:p/>
        </p:txBody>
      </p:sp>
      <p:sp>
        <p:nvSpPr>
          <p:cNvPr id="6" name="Text 4"/>
          <p:cNvSpPr/>
          <p:nvPr/>
        </p:nvSpPr>
        <p:spPr>
          <a:xfrm>
            <a:off x="1143000" y="1069848"/>
            <a:ext cx="740664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Independent audit before any mainnet deployment (planned)</a:t>
            </a:r>
            <a:endParaRPr lang="en-US" sz="1300" dirty="0"/>
          </a:p>
        </p:txBody>
      </p:sp>
      <p:sp>
        <p:nvSpPr>
          <p:cNvPr id="7" name="Shape 5"/>
          <p:cNvSpPr/>
          <p:nvPr/>
        </p:nvSpPr>
        <p:spPr>
          <a:xfrm>
            <a:off x="365760" y="1801368"/>
            <a:ext cx="502920" cy="502920"/>
          </a:xfrm>
          <a:prstGeom prst="ellipse">
            <a:avLst/>
          </a:prstGeom>
          <a:solidFill>
            <a:srgbClr val="1E2761"/>
          </a:solidFill>
          <a:ln w="12700">
            <a:solidFill>
              <a:srgbClr val="1E2761"/>
            </a:solidFill>
            <a:prstDash val="solid"/>
          </a:ln>
        </p:spPr>
        <p:txBody>
          <a:bodyPr/>
          <a:p/>
        </p:txBody>
      </p:sp>
      <p:sp>
        <p:nvSpPr>
          <p:cNvPr id="8" name="Text 6"/>
          <p:cNvSpPr/>
          <p:nvPr/>
        </p:nvSpPr>
        <p:spPr>
          <a:xfrm>
            <a:off x="365760" y="18013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Shape 7"/>
          <p:cNvSpPr/>
          <p:nvPr/>
        </p:nvSpPr>
        <p:spPr>
          <a:xfrm>
            <a:off x="1005840" y="1801368"/>
            <a:ext cx="7772400" cy="502920"/>
          </a:xfrm>
          <a:prstGeom prst="rect">
            <a:avLst/>
          </a:prstGeom>
          <a:solidFill>
            <a:srgbClr val="FFFFFF"/>
          </a:solidFill>
          <a:ln w="12700">
            <a:solidFill>
              <a:srgbClr val="E0E8FF"/>
            </a:solidFill>
            <a:prstDash val="solid"/>
          </a:ln>
        </p:spPr>
        <p:txBody>
          <a:bodyPr/>
          <a:p/>
        </p:txBody>
      </p:sp>
      <p:sp>
        <p:nvSpPr>
          <p:cNvPr id="10" name="Text 8"/>
          <p:cNvSpPr/>
          <p:nvPr/>
        </p:nvSpPr>
        <p:spPr>
          <a:xfrm>
            <a:off x="1143000" y="1819656"/>
            <a:ext cx="740664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Safe multisig on critical contracts (planned)</a:t>
            </a:r>
            <a:endParaRPr lang="en-US" sz="1300" dirty="0"/>
          </a:p>
        </p:txBody>
      </p:sp>
      <p:sp>
        <p:nvSpPr>
          <p:cNvPr id="11" name="Shape 9"/>
          <p:cNvSpPr/>
          <p:nvPr/>
        </p:nvSpPr>
        <p:spPr>
          <a:xfrm>
            <a:off x="365760" y="2551176"/>
            <a:ext cx="502920" cy="502920"/>
          </a:xfrm>
          <a:prstGeom prst="ellipse">
            <a:avLst/>
          </a:prstGeom>
          <a:solidFill>
            <a:srgbClr val="1E2761"/>
          </a:solidFill>
          <a:ln w="12700">
            <a:solidFill>
              <a:srgbClr val="1E2761"/>
            </a:solidFill>
            <a:prstDash val="solid"/>
          </a:ln>
        </p:spPr>
        <p:txBody>
          <a:bodyPr/>
          <a:p/>
        </p:txBody>
      </p:sp>
      <p:sp>
        <p:nvSpPr>
          <p:cNvPr id="12" name="Text 10"/>
          <p:cNvSpPr/>
          <p:nvPr/>
        </p:nvSpPr>
        <p:spPr>
          <a:xfrm>
            <a:off x="365760" y="2551176"/>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3" name="Shape 11"/>
          <p:cNvSpPr/>
          <p:nvPr/>
        </p:nvSpPr>
        <p:spPr>
          <a:xfrm>
            <a:off x="1005840" y="2551176"/>
            <a:ext cx="7772400" cy="502920"/>
          </a:xfrm>
          <a:prstGeom prst="rect">
            <a:avLst/>
          </a:prstGeom>
          <a:solidFill>
            <a:srgbClr val="F0F4FF"/>
          </a:solidFill>
          <a:ln w="12700">
            <a:solidFill>
              <a:srgbClr val="E0E8FF"/>
            </a:solidFill>
            <a:prstDash val="solid"/>
          </a:ln>
        </p:spPr>
        <p:txBody>
          <a:bodyPr/>
          <a:p/>
        </p:txBody>
      </p:sp>
      <p:sp>
        <p:nvSpPr>
          <p:cNvPr id="14" name="Text 12"/>
          <p:cNvSpPr/>
          <p:nvPr/>
        </p:nvSpPr>
        <p:spPr>
          <a:xfrm>
            <a:off x="1143000" y="2569464"/>
            <a:ext cx="740664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48h timelock on all protocol changes</a:t>
            </a:r>
            <a:endParaRPr lang="en-US" sz="1300" dirty="0"/>
          </a:p>
        </p:txBody>
      </p:sp>
      <p:sp>
        <p:nvSpPr>
          <p:cNvPr id="15" name="Shape 13"/>
          <p:cNvSpPr/>
          <p:nvPr/>
        </p:nvSpPr>
        <p:spPr>
          <a:xfrm>
            <a:off x="365760" y="3300984"/>
            <a:ext cx="502920" cy="502920"/>
          </a:xfrm>
          <a:prstGeom prst="ellipse">
            <a:avLst/>
          </a:prstGeom>
          <a:solidFill>
            <a:srgbClr val="1E2761"/>
          </a:solidFill>
          <a:ln w="12700">
            <a:solidFill>
              <a:srgbClr val="1E2761"/>
            </a:solidFill>
            <a:prstDash val="solid"/>
          </a:ln>
        </p:spPr>
        <p:txBody>
          <a:bodyPr/>
          <a:p/>
        </p:txBody>
      </p:sp>
      <p:sp>
        <p:nvSpPr>
          <p:cNvPr id="16" name="Text 14"/>
          <p:cNvSpPr/>
          <p:nvPr/>
        </p:nvSpPr>
        <p:spPr>
          <a:xfrm>
            <a:off x="365760" y="3300984"/>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7" name="Shape 15"/>
          <p:cNvSpPr/>
          <p:nvPr/>
        </p:nvSpPr>
        <p:spPr>
          <a:xfrm>
            <a:off x="1005840" y="3300984"/>
            <a:ext cx="7772400" cy="502920"/>
          </a:xfrm>
          <a:prstGeom prst="rect">
            <a:avLst/>
          </a:prstGeom>
          <a:solidFill>
            <a:srgbClr val="FFFFFF"/>
          </a:solidFill>
          <a:ln w="12700">
            <a:solidFill>
              <a:srgbClr val="E0E8FF"/>
            </a:solidFill>
            <a:prstDash val="solid"/>
          </a:ln>
        </p:spPr>
        <p:txBody>
          <a:bodyPr/>
          <a:p/>
        </p:txBody>
      </p:sp>
      <p:sp>
        <p:nvSpPr>
          <p:cNvPr id="18" name="Text 16"/>
          <p:cNvSpPr/>
          <p:nvPr/>
        </p:nvSpPr>
        <p:spPr>
          <a:xfrm>
            <a:off x="1143000" y="3319272"/>
            <a:ext cx="740664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Immunefi bug bounty before mainnet (size TBD)</a:t>
            </a:r>
            <a:endParaRPr lang="en-US" sz="1300" dirty="0"/>
          </a:p>
        </p:txBody>
      </p:sp>
      <p:sp>
        <p:nvSpPr>
          <p:cNvPr id="19" name="Shape 17"/>
          <p:cNvSpPr/>
          <p:nvPr/>
        </p:nvSpPr>
        <p:spPr>
          <a:xfrm>
            <a:off x="365760" y="4050792"/>
            <a:ext cx="502920" cy="502920"/>
          </a:xfrm>
          <a:prstGeom prst="ellipse">
            <a:avLst/>
          </a:prstGeom>
          <a:solidFill>
            <a:srgbClr val="1E2761"/>
          </a:solidFill>
          <a:ln w="12700">
            <a:solidFill>
              <a:srgbClr val="1E2761"/>
            </a:solidFill>
            <a:prstDash val="solid"/>
          </a:ln>
        </p:spPr>
        <p:txBody>
          <a:bodyPr/>
          <a:p/>
        </p:txBody>
      </p:sp>
      <p:sp>
        <p:nvSpPr>
          <p:cNvPr id="20" name="Text 18"/>
          <p:cNvSpPr/>
          <p:nvPr/>
        </p:nvSpPr>
        <p:spPr>
          <a:xfrm>
            <a:off x="365760" y="4050792"/>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1" name="Shape 19"/>
          <p:cNvSpPr/>
          <p:nvPr/>
        </p:nvSpPr>
        <p:spPr>
          <a:xfrm>
            <a:off x="1005840" y="4050792"/>
            <a:ext cx="7772400" cy="502920"/>
          </a:xfrm>
          <a:prstGeom prst="rect">
            <a:avLst/>
          </a:prstGeom>
          <a:solidFill>
            <a:srgbClr val="F0F4FF"/>
          </a:solidFill>
          <a:ln w="12700">
            <a:solidFill>
              <a:srgbClr val="E0E8FF"/>
            </a:solidFill>
            <a:prstDash val="solid"/>
          </a:ln>
        </p:spPr>
        <p:txBody>
          <a:bodyPr/>
          <a:p/>
        </p:txBody>
      </p:sp>
      <p:sp>
        <p:nvSpPr>
          <p:cNvPr id="22" name="Text 20"/>
          <p:cNvSpPr/>
          <p:nvPr/>
        </p:nvSpPr>
        <p:spPr>
          <a:xfrm>
            <a:off x="1143000" y="4069080"/>
            <a:ext cx="7406640" cy="457200"/>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Open-source contracts, verified on Basescan at deployment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Team</a:t>
            </a:r>
            <a:endParaRPr lang="en-US" sz="3600" dirty="0"/>
          </a:p>
        </p:txBody>
      </p:sp>
      <p:sp>
        <p:nvSpPr>
          <p:cNvPr id="3" name="Shape 1"/>
          <p:cNvSpPr/>
          <p:nvPr/>
        </p:nvSpPr>
        <p:spPr>
          <a:xfrm>
            <a:off x="324612" y="1188720"/>
            <a:ext cx="1965960" cy="3063240"/>
          </a:xfrm>
          <a:prstGeom prst="rect">
            <a:avLst/>
          </a:prstGeom>
          <a:solidFill>
            <a:srgbClr val="1A1A3E"/>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4" name="Shape 2"/>
          <p:cNvSpPr/>
          <p:nvPr/>
        </p:nvSpPr>
        <p:spPr>
          <a:xfrm>
            <a:off x="896112" y="1371600"/>
            <a:ext cx="822960" cy="822960"/>
          </a:xfrm>
          <a:prstGeom prst="ellipse">
            <a:avLst/>
          </a:prstGeom>
          <a:solidFill>
            <a:srgbClr val="1E2761"/>
          </a:solidFill>
          <a:ln w="19050">
            <a:solidFill>
              <a:srgbClr val="00D4FF"/>
            </a:solidFill>
            <a:prstDash val="solid"/>
          </a:ln>
        </p:spPr>
        <p:txBody>
          <a:bodyPr/>
          <a:p/>
        </p:txBody>
      </p:sp>
      <p:sp>
        <p:nvSpPr>
          <p:cNvPr id="5" name="Text 3"/>
          <p:cNvSpPr/>
          <p:nvPr/>
        </p:nvSpPr>
        <p:spPr>
          <a:xfrm>
            <a:off x="896112" y="1371600"/>
            <a:ext cx="822960" cy="822960"/>
          </a:xfrm>
          <a:prstGeom prst="rect">
            <a:avLst/>
          </a:prstGeom>
          <a:noFill/>
          <a:ln/>
        </p:spPr>
        <p:txBody>
          <a:bodyPr wrap="square" lIns="0" tIns="0" rIns="0" bIns="0" rtlCol="0" anchor="ctr"/>
          <a:lstStyle/>
          <a:p>
            <a:pPr algn="ctr" indent="0" marL="0">
              <a:buNone/>
            </a:pPr>
            <a:r>
              <a:rPr lang="en-US" sz="2200" b="1" dirty="0">
                <a:solidFill>
                  <a:srgbClr val="00D4FF"/>
                </a:solidFill>
                <a:latin typeface="Georgia" pitchFamily="34" charset="0"/>
                <a:ea typeface="Georgia" pitchFamily="34" charset="-122"/>
                <a:cs typeface="Georgia" pitchFamily="34" charset="-120"/>
              </a:rPr>
              <a:t>F</a:t>
            </a:r>
            <a:endParaRPr lang="en-US" sz="2200" dirty="0"/>
          </a:p>
        </p:txBody>
      </p:sp>
      <p:sp>
        <p:nvSpPr>
          <p:cNvPr id="6" name="Text 4"/>
          <p:cNvSpPr/>
          <p:nvPr/>
        </p:nvSpPr>
        <p:spPr>
          <a:xfrm>
            <a:off x="416052" y="2359152"/>
            <a:ext cx="1783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Founder</a:t>
            </a:r>
            <a:endParaRPr lang="en-US" sz="1300" dirty="0"/>
          </a:p>
        </p:txBody>
      </p:sp>
      <p:sp>
        <p:nvSpPr>
          <p:cNvPr id="7" name="Text 5"/>
          <p:cNvSpPr/>
          <p:nvPr/>
        </p:nvSpPr>
        <p:spPr>
          <a:xfrm>
            <a:off x="416052" y="2834640"/>
            <a:ext cx="1783080" cy="384048"/>
          </a:xfrm>
          <a:prstGeom prst="rect">
            <a:avLst/>
          </a:prstGeom>
          <a:noFill/>
          <a:ln/>
        </p:spPr>
        <p:txBody>
          <a:bodyPr wrap="square" lIns="0" tIns="0" rIns="0" bIns="0" rtlCol="0" anchor="ctr"/>
          <a:lstStyle/>
          <a:p>
            <a:pPr algn="ctr" indent="0" marL="0">
              <a:buNone/>
            </a:pPr>
            <a:r>
              <a:rPr lang="en-US" sz="1100" dirty="0">
                <a:solidFill>
                  <a:srgbClr val="00D4FF"/>
                </a:solidFill>
                <a:latin typeface="Calibri" pitchFamily="34" charset="0"/>
                <a:ea typeface="Calibri" pitchFamily="34" charset="-122"/>
                <a:cs typeface="Calibri" pitchFamily="34" charset="-120"/>
              </a:rPr>
              <a:t>Protocol &amp; Product</a:t>
            </a:r>
            <a:endParaRPr lang="en-US" sz="1100" dirty="0"/>
          </a:p>
        </p:txBody>
      </p:sp>
      <p:sp>
        <p:nvSpPr>
          <p:cNvPr id="8" name="Text 6"/>
          <p:cNvSpPr/>
          <p:nvPr/>
        </p:nvSpPr>
        <p:spPr>
          <a:xfrm>
            <a:off x="416052" y="3310128"/>
            <a:ext cx="1783080" cy="749808"/>
          </a:xfrm>
          <a:prstGeom prst="rect">
            <a:avLst/>
          </a:prstGeom>
          <a:noFill/>
          <a:ln/>
        </p:spPr>
        <p:txBody>
          <a:bodyPr wrap="square" lIns="0" tIns="0" rIns="0" bIns="0" rtlCol="0" anchor="t"/>
          <a:lstStyle/>
          <a:p>
            <a:pPr algn="ctr" indent="0" marL="0">
              <a:buNone/>
            </a:pPr>
            <a:r>
              <a:rPr lang="en-US" sz="1100" dirty="0">
                <a:solidFill>
                  <a:srgbClr val="E8E8F0"/>
                </a:solidFill>
                <a:latin typeface="Calibri" pitchFamily="34" charset="0"/>
                <a:ea typeface="Calibri" pitchFamily="34" charset="-122"/>
                <a:cs typeface="Calibri" pitchFamily="34" charset="-120"/>
              </a:rPr>
              <a:t>Name &amp; background published</a:t>
            </a:r>
            <a:endParaRPr lang="en-US" sz="1100" dirty="0"/>
          </a:p>
          <a:p>
            <a:pPr algn="ctr" indent="0" marL="0">
              <a:buNone/>
            </a:pPr>
            <a:r>
              <a:rPr lang="en-US" sz="1100" dirty="0">
                <a:solidFill>
                  <a:srgbClr val="E8E8F0"/>
                </a:solidFill>
                <a:latin typeface="Calibri" pitchFamily="34" charset="0"/>
                <a:ea typeface="Calibri" pitchFamily="34" charset="-122"/>
                <a:cs typeface="Calibri" pitchFamily="34" charset="-120"/>
              </a:rPr>
              <a:t>with consent</a:t>
            </a:r>
            <a:endParaRPr lang="en-US" sz="1100" dirty="0"/>
          </a:p>
        </p:txBody>
      </p:sp>
      <p:sp>
        <p:nvSpPr>
          <p:cNvPr id="9" name="Shape 7"/>
          <p:cNvSpPr/>
          <p:nvPr/>
        </p:nvSpPr>
        <p:spPr>
          <a:xfrm>
            <a:off x="2500884" y="1188720"/>
            <a:ext cx="1965960" cy="3063240"/>
          </a:xfrm>
          <a:prstGeom prst="rect">
            <a:avLst/>
          </a:prstGeom>
          <a:solidFill>
            <a:srgbClr val="1A1A3E"/>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10" name="Shape 8"/>
          <p:cNvSpPr/>
          <p:nvPr/>
        </p:nvSpPr>
        <p:spPr>
          <a:xfrm>
            <a:off x="3072384" y="1371600"/>
            <a:ext cx="822960" cy="822960"/>
          </a:xfrm>
          <a:prstGeom prst="ellipse">
            <a:avLst/>
          </a:prstGeom>
          <a:solidFill>
            <a:srgbClr val="1E2761"/>
          </a:solidFill>
          <a:ln w="19050">
            <a:solidFill>
              <a:srgbClr val="00D4FF"/>
            </a:solidFill>
            <a:prstDash val="solid"/>
          </a:ln>
        </p:spPr>
        <p:txBody>
          <a:bodyPr/>
          <a:p/>
        </p:txBody>
      </p:sp>
      <p:sp>
        <p:nvSpPr>
          <p:cNvPr id="11" name="Text 9"/>
          <p:cNvSpPr/>
          <p:nvPr/>
        </p:nvSpPr>
        <p:spPr>
          <a:xfrm>
            <a:off x="3072384" y="1371600"/>
            <a:ext cx="822960" cy="822960"/>
          </a:xfrm>
          <a:prstGeom prst="rect">
            <a:avLst/>
          </a:prstGeom>
          <a:noFill/>
          <a:ln/>
        </p:spPr>
        <p:txBody>
          <a:bodyPr wrap="square" lIns="0" tIns="0" rIns="0" bIns="0" rtlCol="0" anchor="ctr"/>
          <a:lstStyle/>
          <a:p>
            <a:pPr algn="ctr" indent="0" marL="0">
              <a:buNone/>
            </a:pPr>
            <a:r>
              <a:rPr lang="en-US" sz="2200" b="1" dirty="0">
                <a:solidFill>
                  <a:srgbClr val="00D4FF"/>
                </a:solidFill>
                <a:latin typeface="Georgia" pitchFamily="34" charset="0"/>
                <a:ea typeface="Georgia" pitchFamily="34" charset="-122"/>
                <a:cs typeface="Georgia" pitchFamily="34" charset="-120"/>
              </a:rPr>
              <a:t>S</a:t>
            </a:r>
            <a:endParaRPr lang="en-US" sz="2200" dirty="0"/>
          </a:p>
        </p:txBody>
      </p:sp>
      <p:sp>
        <p:nvSpPr>
          <p:cNvPr id="12" name="Text 10"/>
          <p:cNvSpPr/>
          <p:nvPr/>
        </p:nvSpPr>
        <p:spPr>
          <a:xfrm>
            <a:off x="2592324" y="2359152"/>
            <a:ext cx="1783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Open role</a:t>
            </a:r>
            <a:endParaRPr lang="en-US" sz="1300" dirty="0"/>
          </a:p>
        </p:txBody>
      </p:sp>
      <p:sp>
        <p:nvSpPr>
          <p:cNvPr id="13" name="Text 11"/>
          <p:cNvSpPr/>
          <p:nvPr/>
        </p:nvSpPr>
        <p:spPr>
          <a:xfrm>
            <a:off x="2592324" y="2834640"/>
            <a:ext cx="1783080" cy="384048"/>
          </a:xfrm>
          <a:prstGeom prst="rect">
            <a:avLst/>
          </a:prstGeom>
          <a:noFill/>
          <a:ln/>
        </p:spPr>
        <p:txBody>
          <a:bodyPr wrap="square" lIns="0" tIns="0" rIns="0" bIns="0" rtlCol="0" anchor="ctr"/>
          <a:lstStyle/>
          <a:p>
            <a:pPr algn="ctr" indent="0" marL="0">
              <a:buNone/>
            </a:pPr>
            <a:r>
              <a:rPr lang="en-US" sz="1100" dirty="0">
                <a:solidFill>
                  <a:srgbClr val="00D4FF"/>
                </a:solidFill>
                <a:latin typeface="Calibri" pitchFamily="34" charset="0"/>
                <a:ea typeface="Calibri" pitchFamily="34" charset="-122"/>
                <a:cs typeface="Calibri" pitchFamily="34" charset="-120"/>
              </a:rPr>
              <a:t>Senior Solidity Engineer</a:t>
            </a:r>
            <a:endParaRPr lang="en-US" sz="1100" dirty="0"/>
          </a:p>
        </p:txBody>
      </p:sp>
      <p:sp>
        <p:nvSpPr>
          <p:cNvPr id="14" name="Text 12"/>
          <p:cNvSpPr/>
          <p:nvPr/>
        </p:nvSpPr>
        <p:spPr>
          <a:xfrm>
            <a:off x="2592324" y="3310128"/>
            <a:ext cx="1783080" cy="749808"/>
          </a:xfrm>
          <a:prstGeom prst="rect">
            <a:avLst/>
          </a:prstGeom>
          <a:noFill/>
          <a:ln/>
        </p:spPr>
        <p:txBody>
          <a:bodyPr wrap="square" lIns="0" tIns="0" rIns="0" bIns="0" rtlCol="0" anchor="t"/>
          <a:lstStyle/>
          <a:p>
            <a:pPr algn="ctr" indent="0" marL="0">
              <a:buNone/>
            </a:pPr>
            <a:r>
              <a:rPr lang="en-US" sz="1100" dirty="0">
                <a:solidFill>
                  <a:srgbClr val="E8E8F0"/>
                </a:solidFill>
                <a:latin typeface="Calibri" pitchFamily="34" charset="0"/>
                <a:ea typeface="Calibri" pitchFamily="34" charset="-122"/>
                <a:cs typeface="Calibri" pitchFamily="34" charset="-120"/>
              </a:rPr>
              <a:t>Router, staking,</a:t>
            </a:r>
            <a:endParaRPr lang="en-US" sz="1100" dirty="0"/>
          </a:p>
          <a:p>
            <a:pPr algn="ctr" indent="0" marL="0">
              <a:buNone/>
            </a:pPr>
            <a:r>
              <a:rPr lang="en-US" sz="1100" dirty="0">
                <a:solidFill>
                  <a:srgbClr val="E8E8F0"/>
                </a:solidFill>
                <a:latin typeface="Calibri" pitchFamily="34" charset="0"/>
                <a:ea typeface="Calibri" pitchFamily="34" charset="-122"/>
                <a:cs typeface="Calibri" pitchFamily="34" charset="-120"/>
              </a:rPr>
              <a:t>bridge integration</a:t>
            </a:r>
            <a:endParaRPr lang="en-US" sz="1100" dirty="0"/>
          </a:p>
        </p:txBody>
      </p:sp>
      <p:sp>
        <p:nvSpPr>
          <p:cNvPr id="15" name="Shape 13"/>
          <p:cNvSpPr/>
          <p:nvPr/>
        </p:nvSpPr>
        <p:spPr>
          <a:xfrm>
            <a:off x="4677156" y="1188720"/>
            <a:ext cx="1965960" cy="3063240"/>
          </a:xfrm>
          <a:prstGeom prst="rect">
            <a:avLst/>
          </a:prstGeom>
          <a:solidFill>
            <a:srgbClr val="1A1A3E"/>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16" name="Shape 14"/>
          <p:cNvSpPr/>
          <p:nvPr/>
        </p:nvSpPr>
        <p:spPr>
          <a:xfrm>
            <a:off x="5248656" y="1371600"/>
            <a:ext cx="822960" cy="822960"/>
          </a:xfrm>
          <a:prstGeom prst="ellipse">
            <a:avLst/>
          </a:prstGeom>
          <a:solidFill>
            <a:srgbClr val="1E2761"/>
          </a:solidFill>
          <a:ln w="19050">
            <a:solidFill>
              <a:srgbClr val="00D4FF"/>
            </a:solidFill>
            <a:prstDash val="solid"/>
          </a:ln>
        </p:spPr>
        <p:txBody>
          <a:bodyPr/>
          <a:p/>
        </p:txBody>
      </p:sp>
      <p:sp>
        <p:nvSpPr>
          <p:cNvPr id="17" name="Text 15"/>
          <p:cNvSpPr/>
          <p:nvPr/>
        </p:nvSpPr>
        <p:spPr>
          <a:xfrm>
            <a:off x="5248656" y="1371600"/>
            <a:ext cx="822960" cy="822960"/>
          </a:xfrm>
          <a:prstGeom prst="rect">
            <a:avLst/>
          </a:prstGeom>
          <a:noFill/>
          <a:ln/>
        </p:spPr>
        <p:txBody>
          <a:bodyPr wrap="square" lIns="0" tIns="0" rIns="0" bIns="0" rtlCol="0" anchor="ctr"/>
          <a:lstStyle/>
          <a:p>
            <a:pPr algn="ctr" indent="0" marL="0">
              <a:buNone/>
            </a:pPr>
            <a:r>
              <a:rPr lang="en-US" sz="2200" b="1" dirty="0">
                <a:solidFill>
                  <a:srgbClr val="00D4FF"/>
                </a:solidFill>
                <a:latin typeface="Georgia" pitchFamily="34" charset="0"/>
                <a:ea typeface="Georgia" pitchFamily="34" charset="-122"/>
                <a:cs typeface="Georgia" pitchFamily="34" charset="-120"/>
              </a:rPr>
              <a:t>R</a:t>
            </a:r>
            <a:endParaRPr lang="en-US" sz="2200" dirty="0"/>
          </a:p>
        </p:txBody>
      </p:sp>
      <p:sp>
        <p:nvSpPr>
          <p:cNvPr id="18" name="Text 16"/>
          <p:cNvSpPr/>
          <p:nvPr/>
        </p:nvSpPr>
        <p:spPr>
          <a:xfrm>
            <a:off x="4768596" y="2359152"/>
            <a:ext cx="1783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Open role</a:t>
            </a:r>
            <a:endParaRPr lang="en-US" sz="1300" dirty="0"/>
          </a:p>
        </p:txBody>
      </p:sp>
      <p:sp>
        <p:nvSpPr>
          <p:cNvPr id="19" name="Text 17"/>
          <p:cNvSpPr/>
          <p:nvPr/>
        </p:nvSpPr>
        <p:spPr>
          <a:xfrm>
            <a:off x="4768596" y="2834640"/>
            <a:ext cx="1783080" cy="384048"/>
          </a:xfrm>
          <a:prstGeom prst="rect">
            <a:avLst/>
          </a:prstGeom>
          <a:noFill/>
          <a:ln/>
        </p:spPr>
        <p:txBody>
          <a:bodyPr wrap="square" lIns="0" tIns="0" rIns="0" bIns="0" rtlCol="0" anchor="ctr"/>
          <a:lstStyle/>
          <a:p>
            <a:pPr algn="ctr" indent="0" marL="0">
              <a:buNone/>
            </a:pPr>
            <a:r>
              <a:rPr lang="en-US" sz="1100" dirty="0">
                <a:solidFill>
                  <a:srgbClr val="00D4FF"/>
                </a:solidFill>
                <a:latin typeface="Calibri" pitchFamily="34" charset="0"/>
                <a:ea typeface="Calibri" pitchFamily="34" charset="-122"/>
                <a:cs typeface="Calibri" pitchFamily="34" charset="-120"/>
              </a:rPr>
              <a:t>Solver / MEV Research</a:t>
            </a:r>
            <a:endParaRPr lang="en-US" sz="1100" dirty="0"/>
          </a:p>
        </p:txBody>
      </p:sp>
      <p:sp>
        <p:nvSpPr>
          <p:cNvPr id="20" name="Text 18"/>
          <p:cNvSpPr/>
          <p:nvPr/>
        </p:nvSpPr>
        <p:spPr>
          <a:xfrm>
            <a:off x="4768596" y="3310128"/>
            <a:ext cx="1783080" cy="749808"/>
          </a:xfrm>
          <a:prstGeom prst="rect">
            <a:avLst/>
          </a:prstGeom>
          <a:noFill/>
          <a:ln/>
        </p:spPr>
        <p:txBody>
          <a:bodyPr wrap="square" lIns="0" tIns="0" rIns="0" bIns="0" rtlCol="0" anchor="t"/>
          <a:lstStyle/>
          <a:p>
            <a:pPr algn="ctr" indent="0" marL="0">
              <a:buNone/>
            </a:pPr>
            <a:r>
              <a:rPr lang="en-US" sz="1100" dirty="0">
                <a:solidFill>
                  <a:srgbClr val="E8E8F0"/>
                </a:solidFill>
                <a:latin typeface="Calibri" pitchFamily="34" charset="0"/>
                <a:ea typeface="Calibri" pitchFamily="34" charset="-122"/>
                <a:cs typeface="Calibri" pitchFamily="34" charset="-120"/>
              </a:rPr>
              <a:t>Auction design</a:t>
            </a:r>
            <a:endParaRPr lang="en-US" sz="1100" dirty="0"/>
          </a:p>
          <a:p>
            <a:pPr algn="ctr" indent="0" marL="0">
              <a:buNone/>
            </a:pPr>
            <a:r>
              <a:rPr lang="en-US" sz="1100" dirty="0">
                <a:solidFill>
                  <a:srgbClr val="E8E8F0"/>
                </a:solidFill>
                <a:latin typeface="Calibri" pitchFamily="34" charset="0"/>
                <a:ea typeface="Calibri" pitchFamily="34" charset="-122"/>
                <a:cs typeface="Calibri" pitchFamily="34" charset="-120"/>
              </a:rPr>
              <a:t>&amp; solver economics</a:t>
            </a:r>
            <a:endParaRPr lang="en-US" sz="1100" dirty="0"/>
          </a:p>
        </p:txBody>
      </p:sp>
      <p:sp>
        <p:nvSpPr>
          <p:cNvPr id="21" name="Shape 19"/>
          <p:cNvSpPr/>
          <p:nvPr/>
        </p:nvSpPr>
        <p:spPr>
          <a:xfrm>
            <a:off x="6853428" y="1188720"/>
            <a:ext cx="1965960" cy="3063240"/>
          </a:xfrm>
          <a:prstGeom prst="rect">
            <a:avLst/>
          </a:prstGeom>
          <a:solidFill>
            <a:srgbClr val="1A1A3E"/>
          </a:solidFill>
          <a:ln w="1270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22" name="Shape 20"/>
          <p:cNvSpPr/>
          <p:nvPr/>
        </p:nvSpPr>
        <p:spPr>
          <a:xfrm>
            <a:off x="7424928" y="1371600"/>
            <a:ext cx="822960" cy="822960"/>
          </a:xfrm>
          <a:prstGeom prst="ellipse">
            <a:avLst/>
          </a:prstGeom>
          <a:solidFill>
            <a:srgbClr val="1E2761"/>
          </a:solidFill>
          <a:ln w="19050">
            <a:solidFill>
              <a:srgbClr val="00D4FF"/>
            </a:solidFill>
            <a:prstDash val="solid"/>
          </a:ln>
        </p:spPr>
        <p:txBody>
          <a:bodyPr/>
          <a:p/>
        </p:txBody>
      </p:sp>
      <p:sp>
        <p:nvSpPr>
          <p:cNvPr id="23" name="Text 21"/>
          <p:cNvSpPr/>
          <p:nvPr/>
        </p:nvSpPr>
        <p:spPr>
          <a:xfrm>
            <a:off x="7424928" y="1371600"/>
            <a:ext cx="822960" cy="822960"/>
          </a:xfrm>
          <a:prstGeom prst="rect">
            <a:avLst/>
          </a:prstGeom>
          <a:noFill/>
          <a:ln/>
        </p:spPr>
        <p:txBody>
          <a:bodyPr wrap="square" lIns="0" tIns="0" rIns="0" bIns="0" rtlCol="0" anchor="ctr"/>
          <a:lstStyle/>
          <a:p>
            <a:pPr algn="ctr" indent="0" marL="0">
              <a:buNone/>
            </a:pPr>
            <a:r>
              <a:rPr lang="en-US" sz="2200" b="1" dirty="0">
                <a:solidFill>
                  <a:srgbClr val="00D4FF"/>
                </a:solidFill>
                <a:latin typeface="Georgia" pitchFamily="34" charset="0"/>
                <a:ea typeface="Georgia" pitchFamily="34" charset="-122"/>
                <a:cs typeface="Georgia" pitchFamily="34" charset="-120"/>
              </a:rPr>
              <a:t>G</a:t>
            </a:r>
            <a:endParaRPr lang="en-US" sz="2200" dirty="0"/>
          </a:p>
        </p:txBody>
      </p:sp>
      <p:sp>
        <p:nvSpPr>
          <p:cNvPr id="24" name="Text 22"/>
          <p:cNvSpPr/>
          <p:nvPr/>
        </p:nvSpPr>
        <p:spPr>
          <a:xfrm>
            <a:off x="6944868" y="2359152"/>
            <a:ext cx="1783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Open role</a:t>
            </a:r>
            <a:endParaRPr lang="en-US" sz="1300" dirty="0"/>
          </a:p>
        </p:txBody>
      </p:sp>
      <p:sp>
        <p:nvSpPr>
          <p:cNvPr id="25" name="Text 23"/>
          <p:cNvSpPr/>
          <p:nvPr/>
        </p:nvSpPr>
        <p:spPr>
          <a:xfrm>
            <a:off x="6944868" y="2834640"/>
            <a:ext cx="1783080" cy="384048"/>
          </a:xfrm>
          <a:prstGeom prst="rect">
            <a:avLst/>
          </a:prstGeom>
          <a:noFill/>
          <a:ln/>
        </p:spPr>
        <p:txBody>
          <a:bodyPr wrap="square" lIns="0" tIns="0" rIns="0" bIns="0" rtlCol="0" anchor="ctr"/>
          <a:lstStyle/>
          <a:p>
            <a:pPr algn="ctr" indent="0" marL="0">
              <a:buNone/>
            </a:pPr>
            <a:r>
              <a:rPr lang="en-US" sz="1100" dirty="0">
                <a:solidFill>
                  <a:srgbClr val="00D4FF"/>
                </a:solidFill>
                <a:latin typeface="Calibri" pitchFamily="34" charset="0"/>
                <a:ea typeface="Calibri" pitchFamily="34" charset="-122"/>
                <a:cs typeface="Calibri" pitchFamily="34" charset="-120"/>
              </a:rPr>
              <a:t>Growth &amp; Community</a:t>
            </a:r>
            <a:endParaRPr lang="en-US" sz="1100" dirty="0"/>
          </a:p>
        </p:txBody>
      </p:sp>
      <p:sp>
        <p:nvSpPr>
          <p:cNvPr id="26" name="Text 24"/>
          <p:cNvSpPr/>
          <p:nvPr/>
        </p:nvSpPr>
        <p:spPr>
          <a:xfrm>
            <a:off x="6944868" y="3310128"/>
            <a:ext cx="1783080" cy="749808"/>
          </a:xfrm>
          <a:prstGeom prst="rect">
            <a:avLst/>
          </a:prstGeom>
          <a:noFill/>
          <a:ln/>
        </p:spPr>
        <p:txBody>
          <a:bodyPr wrap="square" lIns="0" tIns="0" rIns="0" bIns="0" rtlCol="0" anchor="t"/>
          <a:lstStyle/>
          <a:p>
            <a:pPr algn="ctr" indent="0" marL="0">
              <a:buNone/>
            </a:pPr>
            <a:r>
              <a:rPr lang="en-US" sz="1100" dirty="0">
                <a:solidFill>
                  <a:srgbClr val="E8E8F0"/>
                </a:solidFill>
                <a:latin typeface="Calibri" pitchFamily="34" charset="0"/>
                <a:ea typeface="Calibri" pitchFamily="34" charset="-122"/>
                <a:cs typeface="Calibri" pitchFamily="34" charset="-120"/>
              </a:rPr>
              <a:t>Discord, X,</a:t>
            </a:r>
            <a:endParaRPr lang="en-US" sz="1100" dirty="0"/>
          </a:p>
          <a:p>
            <a:pPr algn="ctr" indent="0" marL="0">
              <a:buNone/>
            </a:pPr>
            <a:r>
              <a:rPr lang="en-US" sz="1100" dirty="0">
                <a:solidFill>
                  <a:srgbClr val="E8E8F0"/>
                </a:solidFill>
                <a:latin typeface="Calibri" pitchFamily="34" charset="0"/>
                <a:ea typeface="Calibri" pitchFamily="34" charset="-122"/>
                <a:cs typeface="Calibri" pitchFamily="34" charset="-120"/>
              </a:rPr>
              <a:t>ecosystem partners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algn="l" indent="0" marL="0">
              <a:buNone/>
            </a:pPr>
            <a:r>
              <a:rPr lang="en-US" sz="3200" b="1" dirty="0">
                <a:solidFill>
                  <a:srgbClr val="1E2761"/>
                </a:solidFill>
                <a:latin typeface="Georgia" pitchFamily="34" charset="0"/>
                <a:ea typeface="Georgia" pitchFamily="34" charset="-122"/>
                <a:cs typeface="Georgia" pitchFamily="34" charset="-120"/>
              </a:rPr>
              <a:t>Seed Round — $3M (equity)</a:t>
            </a:r>
            <a:endParaRPr lang="en-US" sz="3200" dirty="0"/>
          </a:p>
        </p:txBody>
      </p:sp>
      <p:sp>
        <p:nvSpPr>
          <p:cNvPr id="3" name="Shape 1"/>
          <p:cNvSpPr/>
          <p:nvPr/>
        </p:nvSpPr>
        <p:spPr>
          <a:xfrm>
            <a:off x="320040" y="1005840"/>
            <a:ext cx="4114800" cy="3749040"/>
          </a:xfrm>
          <a:prstGeom prst="rect">
            <a:avLst/>
          </a:prstGeom>
          <a:solidFill>
            <a:srgbClr val="F4F8FF"/>
          </a:solidFill>
          <a:ln w="12700">
            <a:solidFill>
              <a:srgbClr val="1E2761"/>
            </a:solidFill>
            <a:prstDash val="solid"/>
          </a:ln>
          <a:effectLst>
            <a:outerShdw sx="100000" sy="100000" kx="0" ky="0" algn="bl" rotWithShape="0" blurRad="101600" dist="38100" dir="8100000">
              <a:srgbClr val="000000">
                <a:alpha val="18000"/>
              </a:srgbClr>
            </a:outerShdw>
          </a:effectLst>
        </p:spPr>
        <p:txBody>
          <a:bodyPr/>
          <a:p/>
        </p:txBody>
      </p:sp>
      <p:sp>
        <p:nvSpPr>
          <p:cNvPr id="4" name="Text 2"/>
          <p:cNvSpPr/>
          <p:nvPr/>
        </p:nvSpPr>
        <p:spPr>
          <a:xfrm>
            <a:off x="457200" y="1115568"/>
            <a:ext cx="3840480" cy="411480"/>
          </a:xfrm>
          <a:prstGeom prst="rect">
            <a:avLst/>
          </a:prstGeom>
          <a:noFill/>
          <a:ln/>
        </p:spPr>
        <p:txBody>
          <a:bodyPr wrap="square" lIns="0" tIns="0" rIns="0" bIns="0" rtlCol="0" anchor="ctr"/>
          <a:lstStyle/>
          <a:p>
            <a:pPr algn="l" indent="0" marL="0">
              <a:buNone/>
            </a:pPr>
            <a:r>
              <a:rPr lang="en-US" sz="1600" b="1" dirty="0">
                <a:solidFill>
                  <a:srgbClr val="1E2761"/>
                </a:solidFill>
                <a:latin typeface="Georgia" pitchFamily="34" charset="0"/>
                <a:ea typeface="Georgia" pitchFamily="34" charset="-122"/>
                <a:cs typeface="Georgia" pitchFamily="34" charset="-120"/>
              </a:rPr>
              <a:t>Use of Funds</a:t>
            </a:r>
            <a:endParaRPr lang="en-US" sz="1600" dirty="0"/>
          </a:p>
        </p:txBody>
      </p:sp>
      <p:sp>
        <p:nvSpPr>
          <p:cNvPr id="5" name="Shape 3"/>
          <p:cNvSpPr/>
          <p:nvPr/>
        </p:nvSpPr>
        <p:spPr>
          <a:xfrm>
            <a:off x="457200" y="1664208"/>
            <a:ext cx="502920" cy="384048"/>
          </a:xfrm>
          <a:prstGeom prst="rect">
            <a:avLst/>
          </a:prstGeom>
          <a:solidFill>
            <a:srgbClr val="1E2761"/>
          </a:solidFill>
          <a:ln w="12700">
            <a:solidFill>
              <a:srgbClr val="1E2761"/>
            </a:solidFill>
            <a:prstDash val="solid"/>
          </a:ln>
        </p:spPr>
        <p:txBody>
          <a:bodyPr/>
          <a:p/>
        </p:txBody>
      </p:sp>
      <p:sp>
        <p:nvSpPr>
          <p:cNvPr id="6" name="Text 4"/>
          <p:cNvSpPr/>
          <p:nvPr/>
        </p:nvSpPr>
        <p:spPr>
          <a:xfrm>
            <a:off x="457200" y="1664208"/>
            <a:ext cx="502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p>
        </p:txBody>
      </p:sp>
      <p:sp>
        <p:nvSpPr>
          <p:cNvPr id="7" name="Text 5"/>
          <p:cNvSpPr/>
          <p:nvPr/>
        </p:nvSpPr>
        <p:spPr>
          <a:xfrm>
            <a:off x="1051560" y="1682496"/>
            <a:ext cx="3200400" cy="3474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Technical development</a:t>
            </a:r>
            <a:endParaRPr lang="en-US" sz="1300" dirty="0"/>
          </a:p>
        </p:txBody>
      </p:sp>
      <p:sp>
        <p:nvSpPr>
          <p:cNvPr id="8" name="Shape 6"/>
          <p:cNvSpPr/>
          <p:nvPr/>
        </p:nvSpPr>
        <p:spPr>
          <a:xfrm>
            <a:off x="457200" y="2231136"/>
            <a:ext cx="502920" cy="384048"/>
          </a:xfrm>
          <a:prstGeom prst="rect">
            <a:avLst/>
          </a:prstGeom>
          <a:solidFill>
            <a:srgbClr val="7B2FBE"/>
          </a:solidFill>
          <a:ln w="12700">
            <a:solidFill>
              <a:srgbClr val="7B2FBE"/>
            </a:solidFill>
            <a:prstDash val="solid"/>
          </a:ln>
        </p:spPr>
        <p:txBody>
          <a:bodyPr/>
          <a:p/>
        </p:txBody>
      </p:sp>
      <p:sp>
        <p:nvSpPr>
          <p:cNvPr id="9" name="Text 7"/>
          <p:cNvSpPr/>
          <p:nvPr/>
        </p:nvSpPr>
        <p:spPr>
          <a:xfrm>
            <a:off x="457200" y="2231136"/>
            <a:ext cx="502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a:t>
            </a:r>
            <a:endParaRPr lang="en-US" sz="1300" dirty="0"/>
          </a:p>
        </p:txBody>
      </p:sp>
      <p:sp>
        <p:nvSpPr>
          <p:cNvPr id="10" name="Text 8"/>
          <p:cNvSpPr/>
          <p:nvPr/>
        </p:nvSpPr>
        <p:spPr>
          <a:xfrm>
            <a:off x="1051560" y="2249424"/>
            <a:ext cx="3200400" cy="3474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Security audits</a:t>
            </a:r>
            <a:endParaRPr lang="en-US" sz="1300" dirty="0"/>
          </a:p>
        </p:txBody>
      </p:sp>
      <p:sp>
        <p:nvSpPr>
          <p:cNvPr id="11" name="Shape 9"/>
          <p:cNvSpPr/>
          <p:nvPr/>
        </p:nvSpPr>
        <p:spPr>
          <a:xfrm>
            <a:off x="457200" y="2798064"/>
            <a:ext cx="502920" cy="384048"/>
          </a:xfrm>
          <a:prstGeom prst="rect">
            <a:avLst/>
          </a:prstGeom>
          <a:solidFill>
            <a:srgbClr val="00D4FF"/>
          </a:solidFill>
          <a:ln w="12700">
            <a:solidFill>
              <a:srgbClr val="00D4FF"/>
            </a:solidFill>
            <a:prstDash val="solid"/>
          </a:ln>
        </p:spPr>
        <p:txBody>
          <a:bodyPr/>
          <a:p/>
        </p:txBody>
      </p:sp>
      <p:sp>
        <p:nvSpPr>
          <p:cNvPr id="12" name="Text 10"/>
          <p:cNvSpPr/>
          <p:nvPr/>
        </p:nvSpPr>
        <p:spPr>
          <a:xfrm>
            <a:off x="457200" y="2798064"/>
            <a:ext cx="502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13" name="Text 11"/>
          <p:cNvSpPr/>
          <p:nvPr/>
        </p:nvSpPr>
        <p:spPr>
          <a:xfrm>
            <a:off x="1051560" y="2816352"/>
            <a:ext cx="3200400" cy="3474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Liquidity &amp; community</a:t>
            </a:r>
            <a:endParaRPr lang="en-US" sz="1300" dirty="0"/>
          </a:p>
        </p:txBody>
      </p:sp>
      <p:sp>
        <p:nvSpPr>
          <p:cNvPr id="14" name="Shape 12"/>
          <p:cNvSpPr/>
          <p:nvPr/>
        </p:nvSpPr>
        <p:spPr>
          <a:xfrm>
            <a:off x="457200" y="3364992"/>
            <a:ext cx="502920" cy="384048"/>
          </a:xfrm>
          <a:prstGeom prst="rect">
            <a:avLst/>
          </a:prstGeom>
          <a:solidFill>
            <a:srgbClr val="4488FF"/>
          </a:solidFill>
          <a:ln w="12700">
            <a:solidFill>
              <a:srgbClr val="4488FF"/>
            </a:solidFill>
            <a:prstDash val="solid"/>
          </a:ln>
        </p:spPr>
        <p:txBody>
          <a:bodyPr/>
          <a:p/>
        </p:txBody>
      </p:sp>
      <p:sp>
        <p:nvSpPr>
          <p:cNvPr id="15" name="Text 13"/>
          <p:cNvSpPr/>
          <p:nvPr/>
        </p:nvSpPr>
        <p:spPr>
          <a:xfrm>
            <a:off x="457200" y="3364992"/>
            <a:ext cx="502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16" name="Text 14"/>
          <p:cNvSpPr/>
          <p:nvPr/>
        </p:nvSpPr>
        <p:spPr>
          <a:xfrm>
            <a:off x="1051560" y="3383280"/>
            <a:ext cx="3200400" cy="3474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Legal &amp; compliance</a:t>
            </a:r>
            <a:endParaRPr lang="en-US" sz="1300" dirty="0"/>
          </a:p>
        </p:txBody>
      </p:sp>
      <p:sp>
        <p:nvSpPr>
          <p:cNvPr id="17" name="Shape 15"/>
          <p:cNvSpPr/>
          <p:nvPr/>
        </p:nvSpPr>
        <p:spPr>
          <a:xfrm>
            <a:off x="457200" y="3931920"/>
            <a:ext cx="502920" cy="384048"/>
          </a:xfrm>
          <a:prstGeom prst="rect">
            <a:avLst/>
          </a:prstGeom>
          <a:solidFill>
            <a:srgbClr val="44BB88"/>
          </a:solidFill>
          <a:ln w="12700">
            <a:solidFill>
              <a:srgbClr val="44BB88"/>
            </a:solidFill>
            <a:prstDash val="solid"/>
          </a:ln>
        </p:spPr>
        <p:txBody>
          <a:bodyPr/>
          <a:p/>
        </p:txBody>
      </p:sp>
      <p:sp>
        <p:nvSpPr>
          <p:cNvPr id="18" name="Text 16"/>
          <p:cNvSpPr/>
          <p:nvPr/>
        </p:nvSpPr>
        <p:spPr>
          <a:xfrm>
            <a:off x="457200" y="3931920"/>
            <a:ext cx="502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051560" y="3950208"/>
            <a:ext cx="3200400" cy="3474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Operations</a:t>
            </a:r>
            <a:endParaRPr lang="en-US" sz="1300" dirty="0"/>
          </a:p>
        </p:txBody>
      </p:sp>
      <p:sp>
        <p:nvSpPr>
          <p:cNvPr id="20" name="Shape 18"/>
          <p:cNvSpPr/>
          <p:nvPr/>
        </p:nvSpPr>
        <p:spPr>
          <a:xfrm>
            <a:off x="4709160" y="1005840"/>
            <a:ext cx="4114800" cy="3749040"/>
          </a:xfrm>
          <a:prstGeom prst="rect">
            <a:avLst/>
          </a:prstGeom>
          <a:solidFill>
            <a:srgbClr val="0A0E1A"/>
          </a:solidFill>
          <a:ln w="19050">
            <a:solidFill>
              <a:srgbClr val="00D4FF"/>
            </a:solidFill>
            <a:prstDash val="solid"/>
          </a:ln>
          <a:effectLst>
            <a:outerShdw sx="100000" sy="100000" kx="0" ky="0" algn="bl" rotWithShape="0" blurRad="101600" dist="38100" dir="8100000">
              <a:srgbClr val="000000">
                <a:alpha val="18000"/>
              </a:srgbClr>
            </a:outerShdw>
          </a:effectLst>
        </p:spPr>
        <p:txBody>
          <a:bodyPr/>
          <a:p/>
        </p:txBody>
      </p:sp>
      <p:sp>
        <p:nvSpPr>
          <p:cNvPr id="21" name="Text 19"/>
          <p:cNvSpPr/>
          <p:nvPr/>
        </p:nvSpPr>
        <p:spPr>
          <a:xfrm>
            <a:off x="4846320" y="1115568"/>
            <a:ext cx="3840480" cy="411480"/>
          </a:xfrm>
          <a:prstGeom prst="rect">
            <a:avLst/>
          </a:prstGeom>
          <a:noFill/>
          <a:ln/>
        </p:spPr>
        <p:txBody>
          <a:bodyPr wrap="square" lIns="0" tIns="0" rIns="0" bIns="0" rtlCol="0" anchor="ctr"/>
          <a:lstStyle/>
          <a:p>
            <a:pPr algn="l" indent="0" marL="0">
              <a:buNone/>
            </a:pPr>
            <a:r>
              <a:rPr lang="en-US" sz="1600" b="1" dirty="0">
                <a:solidFill>
                  <a:srgbClr val="00D4FF"/>
                </a:solidFill>
                <a:latin typeface="Georgia" pitchFamily="34" charset="0"/>
                <a:ea typeface="Georgia" pitchFamily="34" charset="-122"/>
                <a:cs typeface="Georgia" pitchFamily="34" charset="-120"/>
              </a:rPr>
              <a:t>Round Terms</a:t>
            </a:r>
            <a:endParaRPr lang="en-US" sz="1600" dirty="0"/>
          </a:p>
        </p:txBody>
      </p:sp>
      <p:sp>
        <p:nvSpPr>
          <p:cNvPr id="22" name="Text 20"/>
          <p:cNvSpPr/>
          <p:nvPr/>
        </p:nvSpPr>
        <p:spPr>
          <a:xfrm>
            <a:off x="4846320" y="1664208"/>
            <a:ext cx="1737360" cy="365760"/>
          </a:xfrm>
          <a:prstGeom prst="rect">
            <a:avLst/>
          </a:prstGeom>
          <a:noFill/>
          <a:ln/>
        </p:spPr>
        <p:txBody>
          <a:bodyPr wrap="square" lIns="0" tIns="0" rIns="0" bIns="0" rtlCol="0" anchor="ctr"/>
          <a:lstStyle/>
          <a:p>
            <a:pPr algn="l" indent="0" marL="0">
              <a:buNone/>
            </a:pPr>
            <a:r>
              <a:rPr lang="en-US" sz="1200" b="1" dirty="0">
                <a:solidFill>
                  <a:srgbClr val="00D4FF"/>
                </a:solidFill>
                <a:latin typeface="Calibri" pitchFamily="34" charset="0"/>
                <a:ea typeface="Calibri" pitchFamily="34" charset="-122"/>
                <a:cs typeface="Calibri" pitchFamily="34" charset="-120"/>
              </a:rPr>
              <a:t>Valuation:</a:t>
            </a:r>
            <a:endParaRPr lang="en-US" sz="1200" dirty="0"/>
          </a:p>
        </p:txBody>
      </p:sp>
      <p:sp>
        <p:nvSpPr>
          <p:cNvPr id="23" name="Text 21"/>
          <p:cNvSpPr/>
          <p:nvPr/>
        </p:nvSpPr>
        <p:spPr>
          <a:xfrm>
            <a:off x="6583680" y="1664208"/>
            <a:ext cx="2103120" cy="365760"/>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To be agreed with investors</a:t>
            </a:r>
            <a:endParaRPr lang="en-US" sz="1200" dirty="0"/>
          </a:p>
        </p:txBody>
      </p:sp>
      <p:sp>
        <p:nvSpPr>
          <p:cNvPr id="24" name="Text 22"/>
          <p:cNvSpPr/>
          <p:nvPr/>
        </p:nvSpPr>
        <p:spPr>
          <a:xfrm>
            <a:off x="4846320" y="2231136"/>
            <a:ext cx="1737360" cy="365760"/>
          </a:xfrm>
          <a:prstGeom prst="rect">
            <a:avLst/>
          </a:prstGeom>
          <a:noFill/>
          <a:ln/>
        </p:spPr>
        <p:txBody>
          <a:bodyPr wrap="square" lIns="0" tIns="0" rIns="0" bIns="0" rtlCol="0" anchor="ctr"/>
          <a:lstStyle/>
          <a:p>
            <a:pPr algn="l" indent="0" marL="0">
              <a:buNone/>
            </a:pPr>
            <a:r>
              <a:rPr lang="en-US" sz="1200" b="1" dirty="0">
                <a:solidFill>
                  <a:srgbClr val="00D4FF"/>
                </a:solidFill>
                <a:latin typeface="Calibri" pitchFamily="34" charset="0"/>
                <a:ea typeface="Calibri" pitchFamily="34" charset="-122"/>
                <a:cs typeface="Calibri" pitchFamily="34" charset="-120"/>
              </a:rPr>
              <a:t>Instrument:</a:t>
            </a:r>
            <a:endParaRPr lang="en-US" sz="1200" dirty="0"/>
          </a:p>
        </p:txBody>
      </p:sp>
      <p:sp>
        <p:nvSpPr>
          <p:cNvPr id="25" name="Text 23"/>
          <p:cNvSpPr/>
          <p:nvPr/>
        </p:nvSpPr>
        <p:spPr>
          <a:xfrm>
            <a:off x="6583680" y="2231136"/>
            <a:ext cx="2103120" cy="365760"/>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Equity SAFE (no token allocation)</a:t>
            </a:r>
            <a:endParaRPr lang="en-US" sz="1200" dirty="0"/>
          </a:p>
        </p:txBody>
      </p:sp>
      <p:sp>
        <p:nvSpPr>
          <p:cNvPr id="26" name="Text 24"/>
          <p:cNvSpPr/>
          <p:nvPr/>
        </p:nvSpPr>
        <p:spPr>
          <a:xfrm>
            <a:off x="4846320" y="2798064"/>
            <a:ext cx="1737360" cy="365760"/>
          </a:xfrm>
          <a:prstGeom prst="rect">
            <a:avLst/>
          </a:prstGeom>
          <a:noFill/>
          <a:ln/>
        </p:spPr>
        <p:txBody>
          <a:bodyPr wrap="square" lIns="0" tIns="0" rIns="0" bIns="0" rtlCol="0" anchor="ctr"/>
          <a:lstStyle/>
          <a:p>
            <a:pPr algn="l" indent="0" marL="0">
              <a:buNone/>
            </a:pPr>
            <a:r>
              <a:rPr lang="en-US" sz="1200" b="1" dirty="0">
                <a:solidFill>
                  <a:srgbClr val="00D4FF"/>
                </a:solidFill>
                <a:latin typeface="Calibri" pitchFamily="34" charset="0"/>
                <a:ea typeface="Calibri" pitchFamily="34" charset="-122"/>
                <a:cs typeface="Calibri" pitchFamily="34" charset="-120"/>
              </a:rPr>
              <a:t>Tokens:</a:t>
            </a:r>
            <a:endParaRPr lang="en-US" sz="1200" dirty="0"/>
          </a:p>
        </p:txBody>
      </p:sp>
      <p:sp>
        <p:nvSpPr>
          <p:cNvPr id="27" name="Text 25"/>
          <p:cNvSpPr/>
          <p:nvPr/>
        </p:nvSpPr>
        <p:spPr>
          <a:xfrm>
            <a:off x="6583680" y="2798064"/>
            <a:ext cx="2103120" cy="365760"/>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None — TRV was fair-launched</a:t>
            </a:r>
            <a:endParaRPr lang="en-US" sz="1200" dirty="0"/>
          </a:p>
        </p:txBody>
      </p:sp>
      <p:sp>
        <p:nvSpPr>
          <p:cNvPr id="28" name="Text 26"/>
          <p:cNvSpPr/>
          <p:nvPr/>
        </p:nvSpPr>
        <p:spPr>
          <a:xfrm>
            <a:off x="4846320" y="3364992"/>
            <a:ext cx="1737360" cy="365760"/>
          </a:xfrm>
          <a:prstGeom prst="rect">
            <a:avLst/>
          </a:prstGeom>
          <a:noFill/>
          <a:ln/>
        </p:spPr>
        <p:txBody>
          <a:bodyPr wrap="square" lIns="0" tIns="0" rIns="0" bIns="0" rtlCol="0" anchor="ctr"/>
          <a:lstStyle/>
          <a:p>
            <a:pPr algn="l" indent="0" marL="0">
              <a:buNone/>
            </a:pPr>
            <a:r>
              <a:rPr lang="en-US" sz="1200" b="1" dirty="0">
                <a:solidFill>
                  <a:srgbClr val="00D4FF"/>
                </a:solidFill>
                <a:latin typeface="Calibri" pitchFamily="34" charset="0"/>
                <a:ea typeface="Calibri" pitchFamily="34" charset="-122"/>
                <a:cs typeface="Calibri" pitchFamily="34" charset="-120"/>
              </a:rPr>
              <a:t>Lead investor:</a:t>
            </a:r>
            <a:endParaRPr lang="en-US" sz="1200" dirty="0"/>
          </a:p>
        </p:txBody>
      </p:sp>
      <p:sp>
        <p:nvSpPr>
          <p:cNvPr id="29" name="Text 27"/>
          <p:cNvSpPr/>
          <p:nvPr/>
        </p:nvSpPr>
        <p:spPr>
          <a:xfrm>
            <a:off x="6583680" y="3364992"/>
            <a:ext cx="2103120" cy="365760"/>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Open</a:t>
            </a:r>
            <a:endParaRPr lang="en-US" sz="1200" dirty="0"/>
          </a:p>
        </p:txBody>
      </p:sp>
      <p:sp>
        <p:nvSpPr>
          <p:cNvPr id="30" name="Text 28"/>
          <p:cNvSpPr/>
          <p:nvPr/>
        </p:nvSpPr>
        <p:spPr>
          <a:xfrm>
            <a:off x="4846320" y="3931920"/>
            <a:ext cx="1737360" cy="365760"/>
          </a:xfrm>
          <a:prstGeom prst="rect">
            <a:avLst/>
          </a:prstGeom>
          <a:noFill/>
          <a:ln/>
        </p:spPr>
        <p:txBody>
          <a:bodyPr wrap="square" lIns="0" tIns="0" rIns="0" bIns="0" rtlCol="0" anchor="ctr"/>
          <a:lstStyle/>
          <a:p>
            <a:pPr algn="l" indent="0" marL="0">
              <a:buNone/>
            </a:pPr>
            <a:r>
              <a:rPr lang="en-US" sz="1200" b="1" dirty="0">
                <a:solidFill>
                  <a:srgbClr val="00D4FF"/>
                </a:solidFill>
                <a:latin typeface="Calibri" pitchFamily="34" charset="0"/>
                <a:ea typeface="Calibri" pitchFamily="34" charset="-122"/>
                <a:cs typeface="Calibri" pitchFamily="34" charset="-120"/>
              </a:rPr>
              <a:t>Close:</a:t>
            </a:r>
            <a:endParaRPr lang="en-US" sz="1200" dirty="0"/>
          </a:p>
        </p:txBody>
      </p:sp>
      <p:sp>
        <p:nvSpPr>
          <p:cNvPr id="31" name="Text 29"/>
          <p:cNvSpPr/>
          <p:nvPr/>
        </p:nvSpPr>
        <p:spPr>
          <a:xfrm>
            <a:off x="6583680" y="3931920"/>
            <a:ext cx="2103120" cy="365760"/>
          </a:xfrm>
          <a:prstGeom prst="rect">
            <a:avLst/>
          </a:prstGeom>
          <a:noFill/>
          <a:ln/>
        </p:spPr>
        <p:txBody>
          <a:bodyPr wrap="square" lIns="0" tIns="0" rIns="0" bIns="0" rtlCol="0" anchor="ctr"/>
          <a:lstStyle/>
          <a:p>
            <a:pPr algn="l" indent="0" marL="0">
              <a:buNone/>
            </a:pPr>
            <a:r>
              <a:rPr lang="en-US" sz="1200" dirty="0">
                <a:solidFill>
                  <a:srgbClr val="E8E8F0"/>
                </a:solidFill>
                <a:latin typeface="Calibri" pitchFamily="34" charset="0"/>
                <a:ea typeface="Calibri" pitchFamily="34" charset="-122"/>
                <a:cs typeface="Calibri" pitchFamily="34" charset="-120"/>
              </a:rPr>
              <a:t>Target Q1 2027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914400" y="-457200"/>
            <a:ext cx="4114800" cy="4114800"/>
          </a:xfrm>
          <a:prstGeom prst="ellipse">
            <a:avLst/>
          </a:prstGeom>
          <a:solidFill>
            <a:srgbClr val="7B2FBE">
              <a:alpha val="25000"/>
            </a:srgbClr>
          </a:solidFill>
          <a:ln w="12700">
            <a:solidFill>
              <a:srgbClr val="7B2FBE"/>
            </a:solidFill>
            <a:prstDash val="solid"/>
          </a:ln>
        </p:spPr>
        <p:txBody>
          <a:bodyPr/>
          <a:p/>
        </p:txBody>
      </p:sp>
      <p:sp>
        <p:nvSpPr>
          <p:cNvPr id="3" name="Shape 1"/>
          <p:cNvSpPr/>
          <p:nvPr/>
        </p:nvSpPr>
        <p:spPr>
          <a:xfrm>
            <a:off x="6583680" y="2286000"/>
            <a:ext cx="3657600" cy="3657600"/>
          </a:xfrm>
          <a:prstGeom prst="ellipse">
            <a:avLst/>
          </a:prstGeom>
          <a:solidFill>
            <a:srgbClr val="00D4FF">
              <a:alpha val="20000"/>
            </a:srgbClr>
          </a:solidFill>
          <a:ln w="12700">
            <a:solidFill>
              <a:srgbClr val="00D4FF"/>
            </a:solidFill>
            <a:prstDash val="solid"/>
          </a:ln>
        </p:spPr>
        <p:txBody>
          <a:bodyPr/>
          <a:p/>
        </p:txBody>
      </p:sp>
      <p:sp>
        <p:nvSpPr>
          <p:cNvPr id="4" name="Text 2"/>
          <p:cNvSpPr/>
          <p:nvPr/>
        </p:nvSpPr>
        <p:spPr>
          <a:xfrm>
            <a:off x="457200" y="1371600"/>
            <a:ext cx="8229600" cy="1005840"/>
          </a:xfrm>
          <a:prstGeom prst="rect">
            <a:avLst/>
          </a:prstGeom>
          <a:noFill/>
          <a:ln/>
        </p:spPr>
        <p:txBody>
          <a:bodyPr wrap="square" lIns="0" tIns="0" rIns="0" bIns="0"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Every swap. Every chain. One protocol.</a:t>
            </a:r>
            <a:endParaRPr lang="en-US" sz="3400" dirty="0"/>
          </a:p>
        </p:txBody>
      </p:sp>
      <p:sp>
        <p:nvSpPr>
          <p:cNvPr id="5" name="Text 3"/>
          <p:cNvSpPr/>
          <p:nvPr/>
        </p:nvSpPr>
        <p:spPr>
          <a:xfrm>
            <a:off x="457200" y="2743200"/>
            <a:ext cx="8229600" cy="548640"/>
          </a:xfrm>
          <a:prstGeom prst="rect">
            <a:avLst/>
          </a:prstGeom>
          <a:noFill/>
          <a:ln/>
        </p:spPr>
        <p:txBody>
          <a:bodyPr wrap="square" lIns="0" tIns="0" rIns="0" bIns="0" rtlCol="0" anchor="ctr"/>
          <a:lstStyle/>
          <a:p>
            <a:pPr algn="ctr" indent="0" marL="0">
              <a:buNone/>
            </a:pPr>
            <a:r>
              <a:rPr lang="en-US" sz="2200" dirty="0">
                <a:solidFill>
                  <a:srgbClr val="00D4FF"/>
                </a:solidFill>
                <a:latin typeface="Georgia" pitchFamily="34" charset="0"/>
                <a:ea typeface="Georgia" pitchFamily="34" charset="-122"/>
                <a:cs typeface="Georgia" pitchFamily="34" charset="-120"/>
              </a:rPr>
              <a:t>Traverse Protocol</a:t>
            </a:r>
            <a:endParaRPr lang="en-US" sz="2200" dirty="0"/>
          </a:p>
        </p:txBody>
      </p:sp>
      <p:sp>
        <p:nvSpPr>
          <p:cNvPr id="6" name="Text 4"/>
          <p:cNvSpPr/>
          <p:nvPr/>
        </p:nvSpPr>
        <p:spPr>
          <a:xfrm>
            <a:off x="182880" y="3474720"/>
            <a:ext cx="8778240" cy="411480"/>
          </a:xfrm>
          <a:prstGeom prst="rect">
            <a:avLst/>
          </a:prstGeom>
          <a:noFill/>
          <a:ln/>
        </p:spPr>
        <p:txBody>
          <a:bodyPr wrap="square" lIns="0" tIns="0" rIns="0" bIns="0" rtlCol="0" anchor="ctr"/>
          <a:lstStyle/>
          <a:p>
            <a:pPr algn="ctr" indent="0" marL="0">
              <a:buNone/>
            </a:pPr>
            <a:r>
              <a:rPr lang="en-US" sz="1400" dirty="0">
                <a:solidFill>
                  <a:srgbClr val="8888AA"/>
                </a:solidFill>
                <a:latin typeface="Calibri" pitchFamily="34" charset="0"/>
                <a:ea typeface="Calibri" pitchFamily="34" charset="-122"/>
                <a:cs typeface="Calibri" pitchFamily="34" charset="-120"/>
              </a:rPr>
              <a:t>traverse-protocol.netlify.app  |  x.com/TRVProtocol  |  discord.gg/xA6KsAnhM</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365760" y="274320"/>
            <a:ext cx="8412480" cy="50292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Disclaimer</a:t>
            </a:r>
            <a:endParaRPr lang="en-US" sz="2000" dirty="0"/>
          </a:p>
        </p:txBody>
      </p:sp>
      <p:sp>
        <p:nvSpPr>
          <p:cNvPr id="3" name="Text 1"/>
          <p:cNvSpPr/>
          <p:nvPr/>
        </p:nvSpPr>
        <p:spPr>
          <a:xfrm>
            <a:off x="365760" y="1051560"/>
            <a:ext cx="8412480" cy="3749040"/>
          </a:xfrm>
          <a:prstGeom prst="rect">
            <a:avLst/>
          </a:prstGeom>
          <a:noFill/>
          <a:ln/>
        </p:spPr>
        <p:txBody>
          <a:bodyPr wrap="square" lIns="0" tIns="0" rIns="0" bIns="0" rtlCol="0" anchor="t"/>
          <a:lstStyle/>
          <a:p>
            <a:pPr algn="l" indent="0" marL="0">
              <a:buNone/>
            </a:pPr>
            <a:r>
              <a:rPr lang="en-US" sz="1100" dirty="0">
                <a:solidFill>
                  <a:srgbClr val="8888AA"/>
                </a:solidFill>
                <a:latin typeface="Calibri" pitchFamily="34" charset="0"/>
                <a:ea typeface="Calibri" pitchFamily="34" charset="-122"/>
                <a:cs typeface="Calibri" pitchFamily="34" charset="-120"/>
              </a:rPr>
              <a:t>This material is for information only and is not an offer of securities or investment, financial or legal advice. TRV launched on Solana via pump.fun and has no live protocol utility yet; planned utilities depend on a bridge, an independent audit and governance. Smart contracts are unaudited. Digital assets carry substantial risk, including total loss. Projections are illustrative and guarantee no return. Consult qualified legal and financial advisors before making any decision. This document has not been registered with any regulatory authority.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2026-06-22T15:04:59Z</dcterms:created>
  <dcterms:modified xsi:type="dcterms:W3CDTF">2026-06-22T15:04:59Z</dcterms:modified>
</cp:coreProperties>
</file>